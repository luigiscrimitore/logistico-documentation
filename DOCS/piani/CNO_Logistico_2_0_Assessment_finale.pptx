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7" r:id="rId5"/>
    <p:sldId id="380" r:id="rId6"/>
    <p:sldId id="396" r:id="rId7"/>
    <p:sldId id="365" r:id="rId8"/>
    <p:sldId id="397" r:id="rId9"/>
    <p:sldId id="381" r:id="rId10"/>
    <p:sldId id="398" r:id="rId11"/>
    <p:sldId id="382" r:id="rId12"/>
    <p:sldId id="399" r:id="rId13"/>
    <p:sldId id="383" r:id="rId14"/>
    <p:sldId id="384" r:id="rId15"/>
    <p:sldId id="363" r:id="rId16"/>
    <p:sldId id="391" r:id="rId17"/>
    <p:sldId id="400" r:id="rId18"/>
    <p:sldId id="385" r:id="rId19"/>
    <p:sldId id="386" r:id="rId20"/>
    <p:sldId id="401" r:id="rId21"/>
    <p:sldId id="387" r:id="rId22"/>
    <p:sldId id="402" r:id="rId23"/>
    <p:sldId id="389" r:id="rId24"/>
    <p:sldId id="388" r:id="rId25"/>
    <p:sldId id="390" r:id="rId26"/>
    <p:sldId id="403" r:id="rId27"/>
    <p:sldId id="286" r:id="rId2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C000"/>
    <a:srgbClr val="896D1C"/>
    <a:srgbClr val="D1A003"/>
    <a:srgbClr val="00B0F0"/>
    <a:srgbClr val="00B050"/>
    <a:srgbClr val="00CC00"/>
    <a:srgbClr val="00FF00"/>
    <a:srgbClr val="C00000"/>
    <a:srgbClr val="FFEA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929F9F4-4A8F-4326-A1B4-22849713DDAB}" styleName="Stile scuro 1 - Color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Stile chiaro 3 - Color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25C0E-B551-4DF6-8512-7DD25AE0699B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30C57-956B-4C70-BEC1-0BEF98C3D1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408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399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0eb4a2a26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0eb4a2a26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5564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7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6311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5551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0eb4a2a26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0eb4a2a26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0489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0314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191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232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2970fc838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g22970fc838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49790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7" name="Google Shape;333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F77530-6E17-4B83-B9AD-09D64DF65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41D5CBC-7C11-4A4E-89EA-7CFE5B39A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3818C2-D866-40B0-BB62-5292DB76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1A5836-19B6-4B51-86D8-88E2AED8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0BF120-3E56-4D54-BDDC-D8DBDD33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39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330577-C2B9-4DEE-8E27-EA9ABB74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6326C0-07CB-4D83-A08C-453DD0F12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E4E9CA-1ADA-4F68-852B-46C03C4A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66DD8B-B65C-4676-8028-B5F211A6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663D8C-494D-4DD9-A9EC-195D2EB2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556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32DE50-E806-4F13-8C6E-F305E968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6B917E-F834-4B5A-85F1-51CBCFBA9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59E916-5214-4EEC-900D-C31DDDB1F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AE0F34-A154-49CC-A39C-A82468E2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4FB2E6-1FE9-401C-BED6-2620B2AA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582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98303B-2DEE-4536-BD58-EC7C1D67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78FDC6-AEC0-49AF-BD79-D68F9D26A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D78EC52-1F35-47FD-A3B7-8FDECEE7E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046F717-C503-4876-B09D-25837971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4D6006B-501C-41DE-9354-703F7D55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F64B535-1349-4F97-BBC4-0AA1DD4C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9143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1AFEC6-ACD0-4493-B5F9-5F415939A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F42B56A-E0A0-4567-91A9-477096942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990ABF-3B3F-44A5-8F90-C75ACCAD9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EEB7D1E-8EE1-44C4-BB76-CF98B4024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87428E2-2001-4B02-8374-A06E100A5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713DDAD-7370-4885-A828-2CD4BAB9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0FEB22C-EF08-416B-AAB6-8A8827FC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AA3B06D-DA3C-4EA5-A061-AED238ED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776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29BD03-C669-40AF-B71B-EBAD26A21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A93CCC-B8ED-4E38-B892-933F0D42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CBCCE90-3285-4BDA-B635-E56B69A8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F0EBF01-74ED-48F0-99DA-86A3A75C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956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3ED3DA-4756-44AB-AA96-98707F7C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EE3E2A4-1361-4707-BB21-2383DF27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AFC2D7-11E2-459E-A96A-0420DDF2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96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8487D6-0DB9-420B-90E8-C13B6BCC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6CCE6B-01DC-44D5-AC33-B63B9CAE7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8B84137-39F9-41B1-8174-114D3B6A4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2FE0889-7E7E-4148-B938-4C495FC8B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2458488-1BCE-4FC3-9ED1-47F2B3C1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CE39B32-F228-4F8F-8BAF-AF1D8861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18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6A0BCF-9B4F-499E-9AEE-7B2C435F6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25B0C03-A413-4A25-AAF1-A1618098A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45B6238-D803-4599-8798-30EBA666C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0E906F8-F254-4FDE-9252-D8727EBE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54BA02-BCA4-45BE-B845-B1DEEF85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894B8F2-ADE7-4129-9E44-BD3EC8B3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028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00EF43-F52D-42ED-A154-47F7EF23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BCE1C6-FDCA-4061-B93C-C5BF31A51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EF396B-2582-4F58-96FF-44F8B8ED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5C9403-90B4-44F5-8FAC-BC05E6E9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C4FF97-A524-421A-9802-69D6875B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788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B06136B-3A6E-4B9B-A5BC-EFA0EF855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D243436-D7CE-4E4E-9612-C5D4DDBE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78157D-2312-4331-97F0-BBC797669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05D740-004B-4292-9630-1446ECFA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7DD0CF-411E-4488-B368-0F72567A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855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">
  <p:cSld name="1_COVER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226"/>
            <a:ext cx="12191995" cy="68575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698145" y="4757577"/>
            <a:ext cx="363036" cy="88659"/>
            <a:chOff x="1404456" y="4691075"/>
            <a:chExt cx="879497" cy="214800"/>
          </a:xfrm>
        </p:grpSpPr>
        <p:sp>
          <p:nvSpPr>
            <p:cNvPr id="11" name="Google Shape;11;p2"/>
            <p:cNvSpPr/>
            <p:nvPr/>
          </p:nvSpPr>
          <p:spPr>
            <a:xfrm flipH="1">
              <a:off x="2069153" y="4691075"/>
              <a:ext cx="214800" cy="214800"/>
            </a:xfrm>
            <a:prstGeom prst="ellipse">
              <a:avLst/>
            </a:prstGeom>
            <a:solidFill>
              <a:srgbClr val="FE41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90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1736805" y="4691075"/>
              <a:ext cx="214800" cy="214800"/>
            </a:xfrm>
            <a:prstGeom prst="ellipse">
              <a:avLst/>
            </a:prstGeom>
            <a:solidFill>
              <a:srgbClr val="FFD1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90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1404456" y="4691075"/>
              <a:ext cx="214800" cy="214800"/>
            </a:xfrm>
            <a:prstGeom prst="ellipse">
              <a:avLst/>
            </a:prstGeom>
            <a:solidFill>
              <a:srgbClr val="37A1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90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5945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INAL">
  <p:cSld name="1_FINAL">
    <p:bg>
      <p:bgPr>
        <a:solidFill>
          <a:schemeClr val="dk1"/>
        </a:solid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71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092" y="964281"/>
            <a:ext cx="1817902" cy="55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71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53680">
            <a:off x="7228649" y="2210755"/>
            <a:ext cx="4401849" cy="4401563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71"/>
          <p:cNvSpPr/>
          <p:nvPr/>
        </p:nvSpPr>
        <p:spPr>
          <a:xfrm flipH="1">
            <a:off x="1182138" y="4333916"/>
            <a:ext cx="107407" cy="107400"/>
          </a:xfrm>
          <a:prstGeom prst="ellipse">
            <a:avLst/>
          </a:prstGeom>
          <a:solidFill>
            <a:srgbClr val="FE413B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900" b="0" i="0" u="none" strike="noStrike" cap="none">
              <a:solidFill>
                <a:srgbClr val="EBEB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71"/>
          <p:cNvSpPr/>
          <p:nvPr/>
        </p:nvSpPr>
        <p:spPr>
          <a:xfrm flipH="1">
            <a:off x="1015954" y="4333916"/>
            <a:ext cx="107407" cy="107400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900" b="0" i="0" u="none" strike="noStrike" cap="none">
              <a:solidFill>
                <a:srgbClr val="EBEB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71"/>
          <p:cNvSpPr/>
          <p:nvPr/>
        </p:nvSpPr>
        <p:spPr>
          <a:xfrm flipH="1">
            <a:off x="849768" y="4333916"/>
            <a:ext cx="107407" cy="107400"/>
          </a:xfrm>
          <a:prstGeom prst="ellipse">
            <a:avLst/>
          </a:prstGeom>
          <a:solidFill>
            <a:srgbClr val="37A1DE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900" b="0" i="0" u="none" strike="noStrike" cap="none">
              <a:solidFill>
                <a:srgbClr val="EBEB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71"/>
          <p:cNvSpPr txBox="1">
            <a:spLocks noGrp="1"/>
          </p:cNvSpPr>
          <p:nvPr>
            <p:ph type="title"/>
          </p:nvPr>
        </p:nvSpPr>
        <p:spPr>
          <a:xfrm>
            <a:off x="701908" y="2526163"/>
            <a:ext cx="6213704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475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29" name="Google Shape;629;p71"/>
          <p:cNvSpPr txBox="1"/>
          <p:nvPr/>
        </p:nvSpPr>
        <p:spPr>
          <a:xfrm>
            <a:off x="731092" y="5437222"/>
            <a:ext cx="1817968" cy="311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  <a:t>Adress</a:t>
            </a:r>
            <a:endParaRPr sz="1150" b="0" i="0" u="none" strike="noStrike" cap="none">
              <a:solidFill>
                <a:srgbClr val="EBEB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71"/>
          <p:cNvSpPr txBox="1"/>
          <p:nvPr/>
        </p:nvSpPr>
        <p:spPr>
          <a:xfrm>
            <a:off x="731092" y="5012000"/>
            <a:ext cx="4409537" cy="2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100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1"/>
          <p:cNvSpPr txBox="1"/>
          <p:nvPr/>
        </p:nvSpPr>
        <p:spPr>
          <a:xfrm>
            <a:off x="2548995" y="5437222"/>
            <a:ext cx="1817968" cy="11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  <a:t>Online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ES"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ES"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  <a:t>info@covisian.com</a:t>
            </a:r>
            <a:br>
              <a:rPr lang="es-ES"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ES"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  <a:t>www.covisian.com</a:t>
            </a:r>
            <a:endParaRPr sz="1150" b="0" i="0" u="none" strike="noStrike" cap="none">
              <a:solidFill>
                <a:srgbClr val="EBEB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2" name="Google Shape;632;p71"/>
          <p:cNvSpPr txBox="1">
            <a:spLocks noGrp="1"/>
          </p:cNvSpPr>
          <p:nvPr>
            <p:ph type="body" idx="1"/>
          </p:nvPr>
        </p:nvSpPr>
        <p:spPr>
          <a:xfrm>
            <a:off x="731098" y="5900550"/>
            <a:ext cx="1257382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457200" marR="0" lvl="1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685800" marR="0" lvl="2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914400" marR="0" lvl="3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1143000" marR="0" lvl="4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1371600" marR="0" lvl="5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1600200" marR="0" lvl="6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1828800" marR="0" lvl="7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2057400" marR="0" lvl="8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1150" b="0" i="0" u="none" strike="noStrike" cap="none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1384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MPTY_DARK">
  <p:cSld name="3_EMPTY_DARK">
    <p:bg>
      <p:bgPr>
        <a:solidFill>
          <a:schemeClr val="dk1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0"/>
          <p:cNvSpPr txBox="1"/>
          <p:nvPr/>
        </p:nvSpPr>
        <p:spPr>
          <a:xfrm>
            <a:off x="11212266" y="6437395"/>
            <a:ext cx="248716" cy="28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774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pPr marL="25774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‹N›</a:t>
            </a:fld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50"/>
          <p:cNvSpPr txBox="1">
            <a:spLocks noGrp="1"/>
          </p:cNvSpPr>
          <p:nvPr>
            <p:ph type="body" idx="1"/>
          </p:nvPr>
        </p:nvSpPr>
        <p:spPr>
          <a:xfrm>
            <a:off x="1497547" y="6465725"/>
            <a:ext cx="1873022" cy="2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8" name="Google Shape;348;p50"/>
          <p:cNvSpPr txBox="1"/>
          <p:nvPr/>
        </p:nvSpPr>
        <p:spPr>
          <a:xfrm>
            <a:off x="1429493" y="6465725"/>
            <a:ext cx="124808" cy="23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9" name="Google Shape;349;p50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 b="26524"/>
          <a:stretch/>
        </p:blipFill>
        <p:spPr>
          <a:xfrm>
            <a:off x="737335" y="6503552"/>
            <a:ext cx="692157" cy="155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082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CFE0CDE-15C6-49CC-9CA0-BFA496F74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75D0EF-BF7E-4A57-9B29-D1D10180A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1B6799-2B00-4E62-B1C2-B480913F6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2E321-1E71-4174-AA9A-F1A4CDDFB9B6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0A77F0-C0D0-4621-B73D-4D8162ACD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AB7D7E-14CD-4A87-8C6F-A7342FAC2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D0D7F-EBB2-4246-9E9A-41B48DE278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0898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02;p1">
            <a:extLst>
              <a:ext uri="{FF2B5EF4-FFF2-40B4-BE49-F238E27FC236}">
                <a16:creationId xmlns:a16="http://schemas.microsoft.com/office/drawing/2014/main" id="{D3B62E98-DECC-4BCA-AE33-478014BE59B5}"/>
              </a:ext>
            </a:extLst>
          </p:cNvPr>
          <p:cNvSpPr txBox="1"/>
          <p:nvPr/>
        </p:nvSpPr>
        <p:spPr>
          <a:xfrm>
            <a:off x="522684" y="2790819"/>
            <a:ext cx="8590053" cy="13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noAutofit/>
          </a:bodyPr>
          <a:lstStyle/>
          <a:p>
            <a:pPr>
              <a:buSzPts val="8800"/>
            </a:pPr>
            <a:r>
              <a:rPr lang="it-IT" sz="3600" dirty="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Conad Nord Ovest </a:t>
            </a:r>
          </a:p>
          <a:p>
            <a:pPr>
              <a:buSzPts val="8800"/>
            </a:pPr>
            <a:r>
              <a:rPr lang="it-IT" sz="3600" dirty="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DWH Logistico 2.0</a:t>
            </a:r>
            <a:endParaRPr sz="3600" dirty="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123"/>
          <p:cNvSpPr txBox="1"/>
          <p:nvPr/>
        </p:nvSpPr>
        <p:spPr>
          <a:xfrm>
            <a:off x="646872" y="4460169"/>
            <a:ext cx="312135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s-ES" sz="1500" b="1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  <a:t>Pistoia, </a:t>
            </a:r>
            <a:r>
              <a:rPr lang="es-ES" sz="1500" b="1" dirty="0">
                <a:solidFill>
                  <a:srgbClr val="EBEBEB"/>
                </a:solidFill>
                <a:latin typeface="Montserrat"/>
                <a:ea typeface="Montserrat"/>
                <a:cs typeface="Montserrat"/>
                <a:sym typeface="Montserrat"/>
              </a:rPr>
              <a:t>28 maggio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8EA1B"/>
                </a:solidFill>
                <a:latin typeface="Montserra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1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Montserra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200" y="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57200" y="1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Recap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Assessment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7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57200" y="19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7200" y="17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57200" y="19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dirty="0">
                <a:solidFill>
                  <a:srgbClr val="FFFFFF"/>
                </a:solidFill>
                <a:latin typeface="Montserrat"/>
              </a:rPr>
              <a:t>Architettura 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AS-IS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5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7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7200" y="25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257200" y="27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Principali Criticità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3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57200" y="35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7200" y="33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257200" y="35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La nuova architettura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57200" y="43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7200" y="41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257200" y="43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Il Progetto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57200" y="5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7200" y="4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57200" y="5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Piano 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&amp;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Rischi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8EA1B"/>
                </a:solidFill>
                <a:latin typeface="Montserra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1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Montserra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200" y="980000"/>
            <a:ext cx="10627600" cy="720000"/>
          </a:xfrm>
          <a:prstGeom prst="rect">
            <a:avLst/>
          </a:prstGeom>
          <a:solidFill>
            <a:srgbClr val="FFFF00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57200" y="1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1" dirty="0" err="1">
                <a:solidFill>
                  <a:sysClr val="windowText" lastClr="000000"/>
                </a:solidFill>
                <a:latin typeface="Montserrat"/>
              </a:rPr>
              <a:t>Recap</a:t>
            </a:r>
            <a:r>
              <a:rPr lang="it-IT" sz="1600" b="1" dirty="0">
                <a:solidFill>
                  <a:sysClr val="windowText" lastClr="000000"/>
                </a:solidFill>
                <a:latin typeface="Montserrat"/>
              </a:rPr>
              <a:t> </a:t>
            </a:r>
            <a:r>
              <a:rPr lang="it-IT" sz="1600" b="1" dirty="0" err="1">
                <a:solidFill>
                  <a:sysClr val="windowText" lastClr="000000"/>
                </a:solidFill>
                <a:latin typeface="Montserrat"/>
              </a:rPr>
              <a:t>Assessment</a:t>
            </a:r>
            <a:endParaRPr sz="16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7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57200" y="19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7200" y="17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57200" y="19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dirty="0">
                <a:solidFill>
                  <a:srgbClr val="FFFFFF"/>
                </a:solidFill>
                <a:latin typeface="Montserrat"/>
              </a:rPr>
              <a:t>Architettura 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AS-IS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5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7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7200" y="25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257200" y="27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Principali Criticità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3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57200" y="35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7200" y="33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257200" y="35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La nuova architettura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57200" y="43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7200" y="41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257200" y="43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Il Progetto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57200" y="5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7200" y="4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57200" y="5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Piano 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&amp;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Rischi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7028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/>
          <p:cNvSpPr txBox="1"/>
          <p:nvPr/>
        </p:nvSpPr>
        <p:spPr>
          <a:xfrm>
            <a:off x="538672" y="220000"/>
            <a:ext cx="11133600" cy="660000"/>
          </a:xfrm>
          <a:prstGeom prst="rect">
            <a:avLst/>
          </a:prstGeom>
          <a:noFill/>
          <a:ln>
            <a:noFill/>
          </a:ln>
        </p:spPr>
        <p:txBody>
          <a:bodyPr wrap="square" lIns="45713" tIns="45713" rIns="45713" bIns="45713" anchor="t"/>
          <a:lstStyle/>
          <a:p>
            <a:r>
              <a:rPr lang="it-IT" sz="3200" b="0" dirty="0">
                <a:solidFill>
                  <a:srgbClr val="F8EA1B"/>
                </a:solidFill>
                <a:latin typeface="Montserrat"/>
              </a:rPr>
              <a:t>Logistico 2 – </a:t>
            </a:r>
            <a:r>
              <a:rPr lang="it-IT" sz="3200" b="0" dirty="0" err="1">
                <a:solidFill>
                  <a:srgbClr val="FFFF00"/>
                </a:solidFill>
                <a:latin typeface="Montserrat"/>
              </a:rPr>
              <a:t>Assessment</a:t>
            </a:r>
            <a:r>
              <a:rPr lang="it-IT" sz="3200" b="0" dirty="0">
                <a:solidFill>
                  <a:srgbClr val="FFFF00"/>
                </a:solidFill>
                <a:latin typeface="Montserrat"/>
              </a:rPr>
              <a:t> </a:t>
            </a:r>
            <a:r>
              <a:rPr lang="it-IT" sz="3200" dirty="0">
                <a:solidFill>
                  <a:srgbClr val="FFFF00"/>
                </a:solidFill>
                <a:latin typeface="Montserrat"/>
              </a:rPr>
              <a:t>-</a:t>
            </a:r>
            <a:r>
              <a:rPr lang="it-IT" sz="3200" b="0" dirty="0">
                <a:solidFill>
                  <a:srgbClr val="FFFF00"/>
                </a:solidFill>
                <a:latin typeface="Montserrat"/>
              </a:rPr>
              <a:t> Deliverable e Documenti</a:t>
            </a:r>
          </a:p>
        </p:txBody>
      </p:sp>
      <p:sp>
        <p:nvSpPr>
          <p:cNvPr id="50" name="LeftCol"/>
          <p:cNvSpPr/>
          <p:nvPr/>
        </p:nvSpPr>
        <p:spPr>
          <a:xfrm>
            <a:off x="457200" y="1175045"/>
            <a:ext cx="5040000" cy="3960000"/>
          </a:xfrm>
          <a:prstGeom prst="rect">
            <a:avLst/>
          </a:prstGeom>
          <a:solidFill>
            <a:srgbClr val="222222"/>
          </a:solidFill>
          <a:ln w="2540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lIns="228600" tIns="228600" rIns="228600" bIns="228600" anchor="t"/>
          <a:lstStyle/>
          <a:p>
            <a:r>
              <a:rPr lang="it-IT" sz="1600" b="1" dirty="0">
                <a:solidFill>
                  <a:srgbClr val="F8EA1B"/>
                </a:solidFill>
                <a:latin typeface="Montserrat"/>
              </a:rPr>
              <a:t>Documenti Prodotti</a:t>
            </a:r>
          </a:p>
          <a:p>
            <a:endParaRPr lang="it-IT" dirty="0"/>
          </a:p>
          <a:p>
            <a:r>
              <a:rPr lang="it-IT" sz="1200" b="1" dirty="0">
                <a:solidFill>
                  <a:srgbClr val="FFFFFF"/>
                </a:solidFill>
                <a:latin typeface="Montserrat"/>
              </a:rPr>
              <a:t>📋 Analisi Tecnica AS-IS</a:t>
            </a:r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Mappatura end-to-end albero ODI (LGX_MASTER_REMEDIATION) e macro-aree funzionali.</a:t>
            </a:r>
          </a:p>
          <a:p>
            <a:endParaRPr lang="it-IT" dirty="0"/>
          </a:p>
          <a:p>
            <a:r>
              <a:rPr lang="it-IT" sz="1200" b="1" dirty="0">
                <a:solidFill>
                  <a:srgbClr val="FFFFFF"/>
                </a:solidFill>
                <a:latin typeface="Montserrat"/>
              </a:rPr>
              <a:t>🏛 Design Architetturale TO-BE</a:t>
            </a:r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Definizione strutturale dei livelli Medallion (Bronze, Silver, Gold) su Azure Databricks.</a:t>
            </a:r>
          </a:p>
          <a:p>
            <a:endParaRPr lang="it-IT" dirty="0"/>
          </a:p>
          <a:p>
            <a:r>
              <a:rPr lang="it-IT" sz="1200" b="1" dirty="0">
                <a:solidFill>
                  <a:srgbClr val="FFFFFF"/>
                </a:solidFill>
                <a:latin typeface="Montserrat"/>
              </a:rPr>
              <a:t>🖺 Matrice Source-to-Target (S2T)</a:t>
            </a:r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Censimento granulare delle tabelle (es. &gt;200 colonne per F_PREP_SPED), classificate in Keep / Move / Drop.</a:t>
            </a:r>
          </a:p>
          <a:p>
            <a:endParaRPr lang="it-IT" dirty="0"/>
          </a:p>
          <a:p>
            <a:r>
              <a:rPr lang="it-IT" sz="1200" b="1" dirty="0">
                <a:solidFill>
                  <a:srgbClr val="FFFFFF"/>
                </a:solidFill>
                <a:latin typeface="Montserrat"/>
              </a:rPr>
              <a:t>📅 Piano di Progetto e WBS</a:t>
            </a:r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Scomposizione dell’effort e dei costi per ogni stream funzionale.</a:t>
            </a:r>
          </a:p>
        </p:txBody>
      </p:sp>
      <p:sp>
        <p:nvSpPr>
          <p:cNvPr id="51" name="RightCol"/>
          <p:cNvSpPr/>
          <p:nvPr/>
        </p:nvSpPr>
        <p:spPr>
          <a:xfrm>
            <a:off x="6172800" y="1175045"/>
            <a:ext cx="5040000" cy="3960000"/>
          </a:xfrm>
          <a:prstGeom prst="rect">
            <a:avLst/>
          </a:prstGeom>
          <a:solidFill>
            <a:srgbClr val="222222"/>
          </a:solidFill>
          <a:ln w="2540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lIns="228600" tIns="228600" rIns="228600" bIns="228600" anchor="t"/>
          <a:lstStyle/>
          <a:p>
            <a:r>
              <a:rPr lang="it-IT" sz="1600" b="1" dirty="0">
                <a:solidFill>
                  <a:srgbClr val="F8EA1B"/>
                </a:solidFill>
                <a:latin typeface="Montserrat"/>
              </a:rPr>
              <a:t>Analisi Tecnica per Wave di Progetto</a:t>
            </a:r>
          </a:p>
          <a:p>
            <a:endParaRPr lang="it-IT" dirty="0"/>
          </a:p>
          <a:p>
            <a:r>
              <a:rPr lang="it-IT" sz="1200" dirty="0">
                <a:solidFill>
                  <a:srgbClr val="AAAAAA"/>
                </a:solidFill>
                <a:latin typeface="Montserrat"/>
              </a:rPr>
              <a:t>Analisi Tecnico-Funzionale AS-IS (documento generale)</a:t>
            </a:r>
          </a:p>
          <a:p>
            <a:endParaRPr lang="it-IT" dirty="0"/>
          </a:p>
          <a:p>
            <a:r>
              <a:rPr lang="it-IT" sz="1300" b="1" dirty="0">
                <a:solidFill>
                  <a:srgbClr val="FFFFFF"/>
                </a:solidFill>
                <a:latin typeface="Montserrat"/>
              </a:rPr>
              <a:t>Wave 1 — Preparazione Spedizioni</a:t>
            </a:r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Logistico 2.0 - AT - Area Preparazione Spedizioni</a:t>
            </a:r>
          </a:p>
          <a:p>
            <a:endParaRPr lang="it-IT" dirty="0"/>
          </a:p>
          <a:p>
            <a:r>
              <a:rPr lang="it-IT" sz="1300" b="1" dirty="0">
                <a:solidFill>
                  <a:srgbClr val="FFFFFF"/>
                </a:solidFill>
                <a:latin typeface="Montserrat"/>
              </a:rPr>
              <a:t>Wave 2 — Giacenze</a:t>
            </a:r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Logistico 2.0 - AT - Area Giacenze</a:t>
            </a:r>
          </a:p>
          <a:p>
            <a:endParaRPr lang="it-IT" dirty="0"/>
          </a:p>
          <a:p>
            <a:r>
              <a:rPr lang="it-IT" sz="1300" b="1" dirty="0">
                <a:solidFill>
                  <a:srgbClr val="FFFFFF"/>
                </a:solidFill>
                <a:latin typeface="Montserrat"/>
              </a:rPr>
              <a:t>Wave 3 — Carichi</a:t>
            </a:r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Logistico 2.0 - AT - Area Carichi</a:t>
            </a:r>
          </a:p>
          <a:p>
            <a:endParaRPr lang="it-IT" dirty="0"/>
          </a:p>
          <a:p>
            <a:r>
              <a:rPr lang="it-IT" sz="1300" b="1" dirty="0">
                <a:solidFill>
                  <a:srgbClr val="FFFFFF"/>
                </a:solidFill>
                <a:latin typeface="Montserrat"/>
              </a:rPr>
              <a:t>Wave 4 — Trasporti</a:t>
            </a:r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Logistico 2.0 - AT - Area Trasporti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D8D779C-00FB-4043-AE0D-B926C0191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it-IT" dirty="0"/>
              <a:t>CNO Logistico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8EA1B"/>
                </a:solidFill>
                <a:latin typeface="Montserra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1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Montserra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200" y="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57200" y="1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Recap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Assessment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7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57200" y="19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7200" y="1780000"/>
            <a:ext cx="10627600" cy="720000"/>
          </a:xfrm>
          <a:prstGeom prst="rect">
            <a:avLst/>
          </a:prstGeom>
          <a:solidFill>
            <a:srgbClr val="FFFF00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57200" y="19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1" dirty="0">
                <a:solidFill>
                  <a:sysClr val="windowText" lastClr="000000"/>
                </a:solidFill>
                <a:latin typeface="Montserrat"/>
              </a:rPr>
              <a:t>Architettura AS-IS</a:t>
            </a:r>
            <a:endParaRPr sz="16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5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7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7200" y="25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257200" y="27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Principali Criticità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3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57200" y="35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7200" y="33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257200" y="35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La nuova architettura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57200" y="43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7200" y="41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257200" y="43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Il Progetto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57200" y="5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7200" y="4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57200" y="5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Piano 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&amp;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Rischi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88704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1 -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Architettura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3657600" cy="19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2880"/>
            <a:ext cx="3291840" cy="193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EA1B"/>
                </a:solidFill>
                <a:latin typeface="Montserrat"/>
              </a:rPr>
              <a:t>CDT_ESTR</a:t>
            </a:r>
          </a:p>
          <a:p>
            <a:pPr algn="l"/>
            <a:endParaRPr sz="1300" b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00" b="0">
                <a:solidFill>
                  <a:srgbClr val="888888"/>
                </a:solidFill>
                <a:latin typeface="Montserrat"/>
              </a:rPr>
              <a:t>Extraction Layer</a:t>
            </a:r>
          </a:p>
          <a:p>
            <a:pPr algn="l"/>
            <a:endParaRPr sz="1000" b="0">
              <a:solidFill>
                <a:srgbClr val="888888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Replica via DB_LINK remoti dai WMS sorgente</a:t>
            </a: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TRUNCATE ciclici su tabelle temporanee WL1_</a:t>
            </a: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Connessione sincrona: satura rete e DB sorgente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980000"/>
            <a:ext cx="3657600" cy="19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50080" y="1162880"/>
            <a:ext cx="3291840" cy="193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EA1B"/>
                </a:solidFill>
                <a:latin typeface="Montserrat"/>
              </a:rPr>
              <a:t>CDT_SA</a:t>
            </a:r>
          </a:p>
          <a:p>
            <a:pPr algn="l"/>
            <a:endParaRPr sz="1300" b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00" b="0">
                <a:solidFill>
                  <a:srgbClr val="888888"/>
                </a:solidFill>
                <a:latin typeface="Montserrat"/>
              </a:rPr>
              <a:t>Staging Area</a:t>
            </a:r>
          </a:p>
          <a:p>
            <a:pPr algn="l"/>
            <a:endParaRPr sz="1000" b="0">
              <a:solidFill>
                <a:srgbClr val="888888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Regole integrita referenziale rigide</a:t>
            </a: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Record scartati in tabelle E_ se anagrafica mancante</a:t>
            </a: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Procedure PL/SQL di normalizzazione (SPLIT condizionali)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7200" y="980000"/>
            <a:ext cx="3657600" cy="19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60080" y="1162880"/>
            <a:ext cx="3291840" cy="193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EA1B"/>
                </a:solidFill>
                <a:latin typeface="Montserrat"/>
              </a:rPr>
              <a:t>CDT_DW</a:t>
            </a:r>
          </a:p>
          <a:p>
            <a:pPr algn="l"/>
            <a:endParaRPr sz="1300" b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00" b="0">
                <a:solidFill>
                  <a:srgbClr val="888888"/>
                </a:solidFill>
                <a:latin typeface="Montserrat"/>
              </a:rPr>
              <a:t>Data Warehouse</a:t>
            </a:r>
          </a:p>
          <a:p>
            <a:pPr algn="l"/>
            <a:endParaRPr sz="1000" b="0">
              <a:solidFill>
                <a:srgbClr val="888888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UPDATE massivi a posteriori su Fact Table</a:t>
            </a: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Exchange Partition manuali per partizioni fisiche</a:t>
            </a: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Logiche KPI in PL/SQL row-by-row (LEAD, LAG)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9909"/>
            <a:ext cx="11277600" cy="590000"/>
          </a:xfrm>
          <a:prstGeom prst="homePlate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274955"/>
            <a:ext cx="11277600" cy="276999"/>
          </a:xfrm>
          <a:prstGeom prst="homePlate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222222"/>
                </a:solidFill>
                <a:latin typeface="Montserrat"/>
              </a:rPr>
              <a:t>Orchestrazione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 ODI (Oracle Data Integrator)   —   Batch notturno: 6-17 ore   —   3 </a:t>
            </a:r>
            <a:r>
              <a:rPr sz="1200" b="1" dirty="0" err="1">
                <a:solidFill>
                  <a:srgbClr val="222222"/>
                </a:solidFill>
                <a:latin typeface="Montserrat"/>
              </a:rPr>
              <a:t>scenari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 master </a:t>
            </a:r>
            <a:r>
              <a:rPr sz="1200" b="1" dirty="0" err="1">
                <a:solidFill>
                  <a:srgbClr val="222222"/>
                </a:solidFill>
                <a:latin typeface="Montserrat"/>
              </a:rPr>
              <a:t>sequenziali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879321"/>
            <a:ext cx="5538800" cy="19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062202"/>
            <a:ext cx="5173040" cy="43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F8EA1B"/>
                </a:solidFill>
                <a:latin typeface="Montserrat"/>
              </a:rPr>
              <a:t>Sorgenti</a:t>
            </a:r>
            <a:endParaRPr sz="1300" b="0" dirty="0">
              <a:solidFill>
                <a:srgbClr val="F8EA1B"/>
              </a:solidFill>
              <a:latin typeface="Montserrat"/>
            </a:endParaRPr>
          </a:p>
          <a:p>
            <a:pPr algn="l"/>
            <a:endParaRPr sz="13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WMS Siti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Logistici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via DB_LINK</a:t>
            </a: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DB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Gestionali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Oracle</a:t>
            </a: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File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parametrici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statici</a:t>
            </a:r>
            <a:endParaRPr sz="105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6000" y="3879322"/>
            <a:ext cx="5538800" cy="19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8880" y="4062202"/>
            <a:ext cx="5173040" cy="43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8EA1B"/>
                </a:solidFill>
                <a:latin typeface="Montserrat"/>
              </a:rPr>
              <a:t>Output</a:t>
            </a:r>
          </a:p>
          <a:p>
            <a:pPr algn="l"/>
            <a:endParaRPr sz="13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F_PREP_SPED, F_GIACENZE, F_ORDINI, F_TRASP</a:t>
            </a:r>
          </a:p>
          <a:p>
            <a:pPr algn="l"/>
            <a:r>
              <a:rPr sz="1050" b="0" dirty="0" err="1">
                <a:solidFill>
                  <a:srgbClr val="CCCCCC"/>
                </a:solidFill>
                <a:latin typeface="Montserrat"/>
              </a:rPr>
              <a:t>Aggregati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(A_)</a:t>
            </a: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MicroStrategy (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reportistica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BI)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8EA1B"/>
                </a:solidFill>
                <a:latin typeface="Montserra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1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Montserra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200" y="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57200" y="1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Recap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Assessment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7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57200" y="19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7200" y="17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57200" y="19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dirty="0">
                <a:solidFill>
                  <a:srgbClr val="FFFFFF"/>
                </a:solidFill>
                <a:latin typeface="Montserrat"/>
              </a:rPr>
              <a:t>Architettura 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AS-IS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5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7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7200" y="2580000"/>
            <a:ext cx="10627600" cy="720000"/>
          </a:xfrm>
          <a:prstGeom prst="rect">
            <a:avLst/>
          </a:prstGeom>
          <a:solidFill>
            <a:srgbClr val="FFFF00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257200" y="27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1" dirty="0">
                <a:solidFill>
                  <a:sysClr val="windowText" lastClr="000000"/>
                </a:solidFill>
                <a:latin typeface="Montserrat"/>
              </a:rPr>
              <a:t>Principali Criticità</a:t>
            </a:r>
            <a:endParaRPr sz="16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3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57200" y="35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7200" y="33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257200" y="35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La nuova architettura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57200" y="43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7200" y="41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257200" y="43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Il Progetto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57200" y="5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7200" y="4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57200" y="5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Piano 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&amp;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Rischi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205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1 -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</a:t>
            </a:r>
            <a:r>
              <a:rPr lang="it-IT" sz="2800" b="0" dirty="0">
                <a:solidFill>
                  <a:srgbClr val="F8EA1B"/>
                </a:solidFill>
                <a:latin typeface="Montserrat"/>
              </a:rPr>
              <a:t>Principali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Criticit</a:t>
            </a:r>
            <a:r>
              <a:rPr lang="it-IT" sz="2800" dirty="0">
                <a:solidFill>
                  <a:srgbClr val="F8EA1B"/>
                </a:solidFill>
                <a:latin typeface="Montserrat"/>
              </a:rPr>
              <a:t>à</a:t>
            </a:r>
            <a:endParaRPr sz="28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5305920" cy="216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640080" y="1162879"/>
            <a:ext cx="5123040" cy="216000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8EA1B"/>
                </a:solidFill>
                <a:latin typeface="Montserrat"/>
              </a:rPr>
              <a:t>Tempi </a:t>
            </a:r>
            <a:r>
              <a:rPr sz="1600" b="0" dirty="0" err="1">
                <a:solidFill>
                  <a:srgbClr val="F8EA1B"/>
                </a:solidFill>
                <a:latin typeface="Montserrat"/>
              </a:rPr>
              <a:t>Inaccettabili</a:t>
            </a:r>
            <a:endParaRPr sz="1600" b="0" dirty="0">
              <a:solidFill>
                <a:srgbClr val="F8EA1B"/>
              </a:solidFill>
              <a:latin typeface="Montserrat"/>
            </a:endParaRPr>
          </a:p>
          <a:p>
            <a:pPr algn="l"/>
            <a:endParaRPr sz="16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200" b="0" dirty="0">
                <a:solidFill>
                  <a:srgbClr val="CCCCCC"/>
                </a:solidFill>
                <a:latin typeface="Montserrat"/>
              </a:rPr>
              <a:t>La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finestra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batch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notturna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varia da </a:t>
            </a:r>
            <a:r>
              <a:rPr lang="it-IT" sz="1200" b="0" dirty="0">
                <a:solidFill>
                  <a:srgbClr val="CCCCCC"/>
                </a:solidFill>
                <a:latin typeface="Montserrat"/>
              </a:rPr>
              <a:t>6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a 17 ore. </a:t>
            </a:r>
            <a:endParaRPr lang="it-IT" sz="12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200" b="0" dirty="0">
                <a:solidFill>
                  <a:srgbClr val="CCCCCC"/>
                </a:solidFill>
                <a:latin typeface="Montserrat"/>
              </a:rPr>
              <a:t>I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dati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sono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disponibili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agli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utenti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solo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nel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pomeriggio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2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200" b="0" dirty="0" err="1">
                <a:solidFill>
                  <a:srgbClr val="CCCCCC"/>
                </a:solidFill>
                <a:latin typeface="Montserrat"/>
              </a:rPr>
              <a:t>Ogni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fallimento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del job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riparte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da zero,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allungando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ulteriormente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tempi.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6000" y="980000"/>
            <a:ext cx="5305920" cy="216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428880" y="1162880"/>
            <a:ext cx="5123040" cy="21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8EA1B"/>
                </a:solidFill>
                <a:latin typeface="Montserrat"/>
              </a:rPr>
              <a:t>Perdita di </a:t>
            </a:r>
            <a:r>
              <a:rPr sz="1600" b="0" dirty="0" err="1">
                <a:solidFill>
                  <a:srgbClr val="F8EA1B"/>
                </a:solidFill>
                <a:latin typeface="Montserrat"/>
              </a:rPr>
              <a:t>Dati</a:t>
            </a:r>
            <a:r>
              <a:rPr sz="1600" b="0" dirty="0">
                <a:solidFill>
                  <a:srgbClr val="F8EA1B"/>
                </a:solidFill>
                <a:latin typeface="Montserrat"/>
              </a:rPr>
              <a:t> (</a:t>
            </a:r>
            <a:r>
              <a:rPr sz="1600" b="0" dirty="0" err="1">
                <a:solidFill>
                  <a:srgbClr val="F8EA1B"/>
                </a:solidFill>
                <a:latin typeface="Montserrat"/>
              </a:rPr>
              <a:t>Tabelle</a:t>
            </a:r>
            <a:r>
              <a:rPr sz="1600" b="0" dirty="0">
                <a:solidFill>
                  <a:srgbClr val="F8EA1B"/>
                </a:solidFill>
                <a:latin typeface="Montserrat"/>
              </a:rPr>
              <a:t> E_)</a:t>
            </a:r>
          </a:p>
          <a:p>
            <a:pPr algn="l"/>
            <a:endParaRPr sz="16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200" b="0" dirty="0" err="1">
                <a:solidFill>
                  <a:srgbClr val="CCCCCC"/>
                </a:solidFill>
                <a:latin typeface="Montserrat"/>
              </a:rPr>
              <a:t>Rigide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regole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di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integrita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in CDT_SA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scartano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record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transazionali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validi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se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manca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l'anagrafica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(Late-Arriving Dimensions). </a:t>
            </a:r>
            <a:endParaRPr lang="it-IT" sz="12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200" b="0" dirty="0">
                <a:solidFill>
                  <a:srgbClr val="CCCCCC"/>
                </a:solidFill>
                <a:latin typeface="Montserrat"/>
              </a:rPr>
              <a:t>Le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tabelle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E_PREP_SPED, E_STOCK, E_CARICO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generano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buchi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contabili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nei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report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direzionali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20000"/>
            <a:ext cx="5305920" cy="216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40080" y="4002879"/>
            <a:ext cx="5123040" cy="21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8EA1B"/>
                </a:solidFill>
                <a:latin typeface="Montserrat"/>
              </a:rPr>
              <a:t>Write-back sui </a:t>
            </a:r>
            <a:r>
              <a:rPr sz="1600" b="0" dirty="0" err="1">
                <a:solidFill>
                  <a:srgbClr val="F8EA1B"/>
                </a:solidFill>
                <a:latin typeface="Montserrat"/>
              </a:rPr>
              <a:t>Sorgenti</a:t>
            </a:r>
            <a:endParaRPr sz="1600" b="0" dirty="0">
              <a:solidFill>
                <a:srgbClr val="F8EA1B"/>
              </a:solidFill>
              <a:latin typeface="Montserrat"/>
            </a:endParaRPr>
          </a:p>
          <a:p>
            <a:pPr algn="l"/>
            <a:endParaRPr sz="16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200" b="0" dirty="0">
                <a:solidFill>
                  <a:srgbClr val="CCCCCC"/>
                </a:solidFill>
                <a:latin typeface="Montserrat"/>
              </a:rPr>
              <a:t>La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procedura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ANNULLA_DATE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esegue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UPDATE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diretti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sui DB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gestionali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operativi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per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forzare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ri-estrazioni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2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200" b="0" dirty="0">
                <a:solidFill>
                  <a:srgbClr val="CCCCCC"/>
                </a:solidFill>
                <a:latin typeface="Montserrat"/>
              </a:rPr>
              <a:t>Il DWH,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che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dovrebbe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essere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read-only,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inquina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sistemi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sorgente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6000" y="3820000"/>
            <a:ext cx="5305920" cy="216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428880" y="4002879"/>
            <a:ext cx="5123040" cy="21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8EA1B"/>
                </a:solidFill>
                <a:latin typeface="Montserrat"/>
              </a:rPr>
              <a:t>Debito</a:t>
            </a:r>
            <a:r>
              <a:rPr sz="1600" b="0" dirty="0">
                <a:solidFill>
                  <a:srgbClr val="F8EA1B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8EA1B"/>
                </a:solidFill>
                <a:latin typeface="Montserrat"/>
              </a:rPr>
              <a:t>Tecnico</a:t>
            </a:r>
            <a:r>
              <a:rPr sz="1600" b="0" dirty="0">
                <a:solidFill>
                  <a:srgbClr val="F8EA1B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8EA1B"/>
                </a:solidFill>
                <a:latin typeface="Montserrat"/>
              </a:rPr>
              <a:t>Strutturale</a:t>
            </a:r>
            <a:endParaRPr sz="1600" b="0" dirty="0">
              <a:solidFill>
                <a:srgbClr val="F8EA1B"/>
              </a:solidFill>
              <a:latin typeface="Montserrat"/>
            </a:endParaRPr>
          </a:p>
          <a:p>
            <a:pPr algn="l"/>
            <a:endParaRPr sz="16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200" b="0" dirty="0" err="1">
                <a:solidFill>
                  <a:srgbClr val="CCCCCC"/>
                </a:solidFill>
                <a:latin typeface="Montserrat"/>
              </a:rPr>
              <a:t>Calcoli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KPI in PL/SQL row-by-row con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cursori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e LEAD/LAG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su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disco. UPDATE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massivi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post-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caricamento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(UP_COSTI_TRASP). </a:t>
            </a:r>
            <a:endParaRPr lang="it-IT" sz="12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200" b="0" dirty="0">
                <a:solidFill>
                  <a:srgbClr val="CCCCCC"/>
                </a:solidFill>
                <a:latin typeface="Montserrat"/>
              </a:rPr>
              <a:t>Exchange Partition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manuali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. Zero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testabilita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automatica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 del </a:t>
            </a:r>
            <a:r>
              <a:rPr sz="1200" b="0" dirty="0" err="1">
                <a:solidFill>
                  <a:srgbClr val="CCCCCC"/>
                </a:solidFill>
                <a:latin typeface="Montserrat"/>
              </a:rPr>
              <a:t>codice</a:t>
            </a:r>
            <a:r>
              <a:rPr sz="12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8EA1B"/>
                </a:solidFill>
                <a:latin typeface="Montserra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1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Montserra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200" y="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57200" y="1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Recap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Assessment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7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57200" y="19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7200" y="17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57200" y="19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dirty="0">
                <a:solidFill>
                  <a:srgbClr val="FFFFFF"/>
                </a:solidFill>
                <a:latin typeface="Montserrat"/>
              </a:rPr>
              <a:t>Architettura 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AS-IS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5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7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7200" y="25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257200" y="27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Principali Criticità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3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57200" y="35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7200" y="3380000"/>
            <a:ext cx="10627600" cy="720000"/>
          </a:xfrm>
          <a:prstGeom prst="rect">
            <a:avLst/>
          </a:prstGeom>
          <a:solidFill>
            <a:srgbClr val="FFFF00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257200" y="35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1" dirty="0">
                <a:solidFill>
                  <a:sysClr val="windowText" lastClr="000000"/>
                </a:solidFill>
                <a:latin typeface="Montserrat"/>
              </a:rPr>
              <a:t>La nuova architettura</a:t>
            </a:r>
            <a:endParaRPr sz="16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57200" y="43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7200" y="41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257200" y="43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Il Progetto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57200" y="5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7200" y="4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57200" y="5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Piano 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&amp;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Rischi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725362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2 – Piattaforma 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Azure Databricks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5488800" cy="15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640080" y="1162880"/>
            <a:ext cx="5123040" cy="1369606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8EA1B"/>
                </a:solidFill>
                <a:latin typeface="Montserrat"/>
              </a:rPr>
              <a:t>Azure Databricks + Apache Spark</a:t>
            </a:r>
          </a:p>
          <a:p>
            <a:pPr algn="l"/>
            <a:endParaRPr sz="14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Cuore del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calcolo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Cluster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distribuiti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elaborano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dati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in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parallelo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: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nessun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loop PL/SQL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sequenziale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Cluster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effimeri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: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accesi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al batch,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spenti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al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termine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Costo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zero a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riposo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6000" y="980000"/>
            <a:ext cx="5488800" cy="15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6428880" y="1162880"/>
            <a:ext cx="5123040" cy="103105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8EA1B"/>
                </a:solidFill>
                <a:latin typeface="Montserrat"/>
              </a:rPr>
              <a:t>Azure Data Lake Storage Gen2</a:t>
            </a:r>
          </a:p>
          <a:p>
            <a:pPr algn="l"/>
            <a:endParaRPr sz="14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Tutti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dati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risiedono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su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storage cloud a basso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costo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Formato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aperto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Parquet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compresso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Separazione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netta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tra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storage e compute: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scalabilita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indipendente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61220"/>
            <a:ext cx="5488800" cy="15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640080" y="2944100"/>
            <a:ext cx="5123040" cy="120032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8EA1B"/>
                </a:solidFill>
                <a:latin typeface="Montserrat"/>
              </a:rPr>
              <a:t>Delta Lake</a:t>
            </a:r>
          </a:p>
          <a:p>
            <a:pPr algn="l"/>
            <a:endParaRPr sz="14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Aggiunge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transazioni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ACID al Data Lake.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MERGE, UPDATE, DELETE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nativi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Time travel: rollback a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qualsiasi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versione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storica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in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minuti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Zero data loss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strutturale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6000" y="2761220"/>
            <a:ext cx="5488800" cy="15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428880" y="2944100"/>
            <a:ext cx="5123040" cy="120032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8EA1B"/>
                </a:solidFill>
                <a:latin typeface="Montserrat"/>
              </a:rPr>
              <a:t>Unity Catalog</a:t>
            </a:r>
          </a:p>
          <a:p>
            <a:pPr algn="l"/>
            <a:endParaRPr sz="14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Namespace a 3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livelli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: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Catalogo.Schema.Tabella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Data Lineage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automatico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Controllo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accessi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centralizzato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per team e MicroStrategy.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Rimpiazza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gli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schemi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isolati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Oracle.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42440"/>
            <a:ext cx="5488800" cy="15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40080" y="4733135"/>
            <a:ext cx="5123040" cy="1369606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8EA1B"/>
                </a:solidFill>
                <a:latin typeface="Montserrat"/>
              </a:rPr>
              <a:t>Databricks Workflows</a:t>
            </a:r>
          </a:p>
          <a:p>
            <a:pPr algn="l"/>
            <a:endParaRPr sz="14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Sostituisce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gli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Scenari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Master ODI.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DAG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visuale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dipendenze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Retry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automatico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Monitoring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nativo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Alerting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su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fallimento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senza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strumenti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esterni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6000" y="4542440"/>
            <a:ext cx="5488800" cy="15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6428880" y="4725320"/>
            <a:ext cx="5123040" cy="120032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8EA1B"/>
                </a:solidFill>
                <a:latin typeface="Montserrat"/>
              </a:rPr>
              <a:t>CI/CD + Git</a:t>
            </a:r>
          </a:p>
          <a:p>
            <a:pPr algn="l"/>
            <a:endParaRPr sz="1400" b="0" dirty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Ogni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notebook e'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versionato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su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Git.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Pipeline di deploy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automatizzata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Ambienti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Dev/Prod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separati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Testabilita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del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codice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garantita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da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8EA1B"/>
                </a:solidFill>
                <a:latin typeface="Montserrat"/>
              </a:rPr>
              <a:t>Medallion Architecture</a:t>
            </a:r>
            <a:r>
              <a:rPr lang="it-IT" sz="2800" b="0" dirty="0">
                <a:solidFill>
                  <a:srgbClr val="F8EA1B"/>
                </a:solidFill>
                <a:latin typeface="Montserrat"/>
              </a:rPr>
              <a:t> -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Bronze, Silver, Gold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5495"/>
            <a:ext cx="3657600" cy="3698289"/>
          </a:xfrm>
          <a:prstGeom prst="rect">
            <a:avLst/>
          </a:prstGeom>
          <a:solidFill>
            <a:srgbClr val="222222"/>
          </a:solidFill>
          <a:ln w="19050">
            <a:solidFill>
              <a:srgbClr val="CD7F32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61460"/>
            <a:ext cx="3291840" cy="40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CD7F32"/>
                </a:solidFill>
                <a:latin typeface="Montserrat"/>
              </a:rPr>
              <a:t>BRONZE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55495"/>
            <a:ext cx="3291840" cy="25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ontserrat"/>
              </a:rPr>
              <a:t>Raw Data — Landing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25495"/>
            <a:ext cx="3291840" cy="273151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050" b="0" dirty="0" err="1">
                <a:solidFill>
                  <a:srgbClr val="CCCCCC"/>
                </a:solidFill>
                <a:latin typeface="Montserrat"/>
              </a:rPr>
              <a:t>Copia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fedele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1:1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dai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sistemi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WMS via JDBC.</a:t>
            </a:r>
          </a:p>
          <a:p>
            <a:pPr algn="l"/>
            <a:endParaRPr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endParaRPr lang="it-IT"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100" b="1" dirty="0" err="1">
                <a:solidFill>
                  <a:srgbClr val="FFFFFF"/>
                </a:solidFill>
                <a:latin typeface="Montserrat"/>
              </a:rPr>
              <a:t>Scrittura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 append-only </a:t>
            </a:r>
            <a:r>
              <a:rPr lang="it-IT" sz="1100" b="1" dirty="0">
                <a:solidFill>
                  <a:srgbClr val="FFFFFF"/>
                </a:solidFill>
                <a:latin typeface="Montserrat"/>
              </a:rPr>
              <a:t>in 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Delta:</a:t>
            </a:r>
          </a:p>
          <a:p>
            <a:pPr algn="l"/>
            <a:endParaRPr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 dirty="0" err="1">
                <a:solidFill>
                  <a:srgbClr val="CCCCCC"/>
                </a:solidFill>
                <a:latin typeface="Montserrat"/>
              </a:rPr>
              <a:t>Storico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immutabile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e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auditabile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. Rollback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garantito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in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caso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di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errore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di job.</a:t>
            </a:r>
          </a:p>
          <a:p>
            <a:pPr algn="l"/>
            <a:endParaRPr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endParaRPr lang="it-IT"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endParaRPr lang="it-IT"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100" b="1" dirty="0">
                <a:solidFill>
                  <a:srgbClr val="FFFFFF"/>
                </a:solidFill>
                <a:latin typeface="Montserrat"/>
              </a:rPr>
              <a:t>Zero </a:t>
            </a:r>
            <a:r>
              <a:rPr sz="1100" b="1" dirty="0" err="1">
                <a:solidFill>
                  <a:srgbClr val="FFFFFF"/>
                </a:solidFill>
                <a:latin typeface="Montserrat"/>
              </a:rPr>
              <a:t>perdite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:</a:t>
            </a:r>
          </a:p>
          <a:p>
            <a:pPr algn="l"/>
            <a:endParaRPr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 dirty="0" err="1">
                <a:solidFill>
                  <a:srgbClr val="CCCCCC"/>
                </a:solidFill>
                <a:latin typeface="Montserrat"/>
              </a:rPr>
              <a:t>Anche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il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dato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non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allineato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entra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Niente piu DB_LINK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sincroni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che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saturano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la rete.</a:t>
            </a:r>
          </a:p>
          <a:p>
            <a:pPr algn="l"/>
            <a:endParaRPr sz="105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200" y="1475495"/>
            <a:ext cx="3657600" cy="3698289"/>
          </a:xfrm>
          <a:prstGeom prst="rect">
            <a:avLst/>
          </a:prstGeom>
          <a:solidFill>
            <a:srgbClr val="222222"/>
          </a:solidFill>
          <a:ln w="19050">
            <a:solidFill>
              <a:srgbClr val="C0C0C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0080" y="1561460"/>
            <a:ext cx="3291840" cy="40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C0C0C0"/>
                </a:solidFill>
                <a:latin typeface="Montserrat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1855495"/>
            <a:ext cx="3291840" cy="25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ontserrat"/>
              </a:rPr>
              <a:t>Single 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2125495"/>
            <a:ext cx="3291840" cy="240835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050" b="0" dirty="0" err="1">
                <a:solidFill>
                  <a:srgbClr val="CCCCCC"/>
                </a:solidFill>
                <a:latin typeface="Montserrat"/>
              </a:rPr>
              <a:t>Dati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ripuliti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deduplicati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certificati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.</a:t>
            </a:r>
          </a:p>
          <a:p>
            <a:pPr algn="l"/>
            <a:endParaRPr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endParaRPr lang="it-IT"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100" b="1" dirty="0" err="1">
                <a:solidFill>
                  <a:srgbClr val="FFFFFF"/>
                </a:solidFill>
                <a:latin typeface="Montserrat"/>
              </a:rPr>
              <a:t>Integrazione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 con MERGE INTO:</a:t>
            </a:r>
          </a:p>
          <a:p>
            <a:pPr algn="l"/>
            <a:endParaRPr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COALESCE(ID, -1)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invece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di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scarto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in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tabella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E_.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Totali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sempre al 100%.</a:t>
            </a:r>
          </a:p>
          <a:p>
            <a:pPr algn="l"/>
            <a:endParaRPr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endParaRPr lang="it-IT"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endParaRPr lang="it-IT"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100" b="1" dirty="0" err="1">
                <a:solidFill>
                  <a:srgbClr val="FFFFFF"/>
                </a:solidFill>
                <a:latin typeface="Montserrat"/>
              </a:rPr>
              <a:t>Strato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Montserrat"/>
              </a:rPr>
              <a:t>neutro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:</a:t>
            </a:r>
          </a:p>
          <a:p>
            <a:pPr algn="l"/>
            <a:endParaRPr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 dirty="0" err="1">
                <a:solidFill>
                  <a:srgbClr val="CCCCCC"/>
                </a:solidFill>
                <a:latin typeface="Montserrat"/>
              </a:rPr>
              <a:t>Ideale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per Data Science e query ad-hoc. </a:t>
            </a:r>
            <a:endParaRPr lang="it-IT"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I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totali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Silver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devono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quadrare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con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sorgenti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0" y="1475495"/>
            <a:ext cx="3657600" cy="3698289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0080" y="1561460"/>
            <a:ext cx="3291840" cy="40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EA1B"/>
                </a:solidFill>
                <a:latin typeface="Montserrat"/>
              </a:rPr>
              <a:t>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0080" y="1855495"/>
            <a:ext cx="3291840" cy="25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ontserrat"/>
              </a:rPr>
              <a:t>Business Layer — BI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0080" y="2125495"/>
            <a:ext cx="3291840" cy="237757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050" b="0" dirty="0" err="1">
                <a:solidFill>
                  <a:srgbClr val="CCCCCC"/>
                </a:solidFill>
                <a:latin typeface="Montserrat"/>
              </a:rPr>
              <a:t>Modello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a stella (Star Schema) per MicroStrategy.</a:t>
            </a:r>
          </a:p>
          <a:p>
            <a:pPr algn="l"/>
            <a:endParaRPr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1" dirty="0" err="1">
                <a:solidFill>
                  <a:srgbClr val="FFFFFF"/>
                </a:solidFill>
                <a:latin typeface="Montserrat"/>
              </a:rPr>
              <a:t>Calcoli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 in-memory (</a:t>
            </a:r>
            <a:r>
              <a:rPr sz="1100" b="1" dirty="0" err="1">
                <a:solidFill>
                  <a:srgbClr val="FFFFFF"/>
                </a:solidFill>
                <a:latin typeface="Montserrat"/>
              </a:rPr>
              <a:t>PySpark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):</a:t>
            </a:r>
          </a:p>
          <a:p>
            <a:pPr algn="l"/>
            <a:endParaRPr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 dirty="0">
                <a:solidFill>
                  <a:srgbClr val="CCCCCC"/>
                </a:solidFill>
                <a:latin typeface="Montserrat"/>
              </a:rPr>
              <a:t>KPI,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produttivita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turni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saturazione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calcolati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durante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la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costruzione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del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DataFrame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.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Nessun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UPDATE.</a:t>
            </a:r>
          </a:p>
          <a:p>
            <a:pPr algn="l"/>
            <a:endParaRPr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1" dirty="0" err="1">
                <a:solidFill>
                  <a:srgbClr val="FFFFFF"/>
                </a:solidFill>
                <a:latin typeface="Montserrat"/>
              </a:rPr>
              <a:t>Scrittura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Montserrat"/>
              </a:rPr>
              <a:t>atomica</a:t>
            </a:r>
            <a:r>
              <a:rPr sz="1100" b="1" dirty="0">
                <a:solidFill>
                  <a:srgbClr val="FFFFFF"/>
                </a:solidFill>
                <a:latin typeface="Montserrat"/>
              </a:rPr>
              <a:t>:</a:t>
            </a:r>
            <a:endParaRPr lang="it-IT" sz="1100" b="1" dirty="0">
              <a:solidFill>
                <a:srgbClr val="FFFFFF"/>
              </a:solidFill>
              <a:latin typeface="Montserrat"/>
            </a:endParaRPr>
          </a:p>
          <a:p>
            <a:pPr algn="l"/>
            <a:endParaRPr lang="it-IT" sz="105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050" b="0" dirty="0" err="1">
                <a:solidFill>
                  <a:srgbClr val="CCCCCC"/>
                </a:solidFill>
                <a:latin typeface="Montserrat"/>
              </a:rPr>
              <a:t>replaceWhere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sostituisce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Exchange Partition. Zero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indici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 da </a:t>
            </a:r>
            <a:r>
              <a:rPr sz="1050" b="0" dirty="0" err="1">
                <a:solidFill>
                  <a:srgbClr val="CCCCCC"/>
                </a:solidFill>
                <a:latin typeface="Montserrat"/>
              </a:rPr>
              <a:t>ricalcolare</a:t>
            </a:r>
            <a:r>
              <a:rPr sz="1050" b="0" dirty="0">
                <a:solidFill>
                  <a:srgbClr val="CCCCCC"/>
                </a:solidFill>
                <a:latin typeface="Montserrat"/>
              </a:rPr>
              <a:t>. Zero downtime.</a:t>
            </a:r>
          </a:p>
          <a:p>
            <a:pPr algn="l"/>
            <a:endParaRPr sz="1050" b="0" dirty="0">
              <a:solidFill>
                <a:srgbClr val="CCCCCC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/>
          <p:cNvSpPr txBox="1"/>
          <p:nvPr/>
        </p:nvSpPr>
        <p:spPr>
          <a:xfrm>
            <a:off x="538672" y="220000"/>
            <a:ext cx="11133600" cy="660000"/>
          </a:xfrm>
          <a:prstGeom prst="rect">
            <a:avLst/>
          </a:prstGeom>
          <a:noFill/>
          <a:ln>
            <a:noFill/>
          </a:ln>
        </p:spPr>
        <p:txBody>
          <a:bodyPr wrap="square" lIns="45713" tIns="45713" rIns="45713" bIns="45713" anchor="t"/>
          <a:lstStyle/>
          <a:p>
            <a:r>
              <a:rPr lang="it-IT" sz="2800" dirty="0">
                <a:solidFill>
                  <a:srgbClr val="F8EA1B"/>
                </a:solidFill>
                <a:latin typeface="Montserrat"/>
              </a:rPr>
              <a:t>Cinque Trasformazioni Fondamentali</a:t>
            </a:r>
          </a:p>
        </p:txBody>
      </p:sp>
      <p:sp>
        <p:nvSpPr>
          <p:cNvPr id="40" name="Box1"/>
          <p:cNvSpPr/>
          <p:nvPr/>
        </p:nvSpPr>
        <p:spPr>
          <a:xfrm>
            <a:off x="457200" y="1000000"/>
            <a:ext cx="3420000" cy="24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lIns="152400" tIns="152400" rIns="152400" bIns="152400" anchor="t"/>
          <a:lstStyle/>
          <a:p>
            <a:r>
              <a:rPr lang="it-IT" sz="1400" b="1" dirty="0">
                <a:solidFill>
                  <a:srgbClr val="F8EA1B"/>
                </a:solidFill>
                <a:latin typeface="Montserrat"/>
              </a:rPr>
              <a:t>⚡ Da Procedurale a Distribuito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AS-IS: loop PL/SQL riga per riga, fino a 17h di esecuzione.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FFFFFF"/>
                </a:solidFill>
                <a:latin typeface="Montserrat"/>
              </a:rPr>
              <a:t>TO-BE: Window Functions PySpark su cluster multi-nodo. Da ore a minuti.</a:t>
            </a:r>
          </a:p>
        </p:txBody>
      </p:sp>
      <p:sp>
        <p:nvSpPr>
          <p:cNvPr id="41" name="Box2"/>
          <p:cNvSpPr/>
          <p:nvPr/>
        </p:nvSpPr>
        <p:spPr>
          <a:xfrm>
            <a:off x="4267200" y="1000000"/>
            <a:ext cx="3420000" cy="24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lIns="152400" tIns="152400" rIns="152400" bIns="152400" anchor="t"/>
          <a:lstStyle/>
          <a:p>
            <a:r>
              <a:rPr lang="it-IT" sz="1400" b="1" dirty="0">
                <a:solidFill>
                  <a:srgbClr val="F8EA1B"/>
                </a:solidFill>
                <a:latin typeface="Montserrat"/>
              </a:rPr>
              <a:t>🛡 Zero Data Loss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AS-IS: anagrafiche orfane scartate in tabelle E_ (E_PREP_SPED, E_STOCK).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FFFFFF"/>
                </a:solidFill>
                <a:latin typeface="Montserrat"/>
              </a:rPr>
              <a:t>TO-BE: COALESCE(ID, -1) garantisce il 100% di copertura volumetrica.</a:t>
            </a:r>
          </a:p>
        </p:txBody>
      </p:sp>
      <p:sp>
        <p:nvSpPr>
          <p:cNvPr id="42" name="Box3"/>
          <p:cNvSpPr/>
          <p:nvPr/>
        </p:nvSpPr>
        <p:spPr>
          <a:xfrm>
            <a:off x="8077200" y="1000000"/>
            <a:ext cx="3420000" cy="24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lIns="152400" tIns="152400" rIns="152400" bIns="152400" anchor="t"/>
          <a:lstStyle/>
          <a:p>
            <a:r>
              <a:rPr lang="it-IT" sz="1400" b="1" dirty="0">
                <a:solidFill>
                  <a:srgbClr val="F8EA1B"/>
                </a:solidFill>
                <a:latin typeface="Montserrat"/>
              </a:rPr>
              <a:t>🔒 Nessuna Scrittura sui Sorgenti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AS-IS: UPDATE sui DB operativi (ANNULLA_DATE) per forzare ri-estrazioni.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FFFFFF"/>
                </a:solidFill>
                <a:latin typeface="Montserrat"/>
              </a:rPr>
              <a:t>TO-BE: sola lettura. Watermarking e Delta Transaction Log tracciano incrementi.</a:t>
            </a:r>
          </a:p>
        </p:txBody>
      </p:sp>
      <p:sp>
        <p:nvSpPr>
          <p:cNvPr id="43" name="Box4"/>
          <p:cNvSpPr/>
          <p:nvPr/>
        </p:nvSpPr>
        <p:spPr>
          <a:xfrm>
            <a:off x="457200" y="3700000"/>
            <a:ext cx="3420000" cy="24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lIns="152400" tIns="152400" rIns="152400" bIns="152400" anchor="t"/>
          <a:lstStyle/>
          <a:p>
            <a:r>
              <a:rPr lang="it-IT" sz="1400" b="1" dirty="0">
                <a:solidFill>
                  <a:srgbClr val="F8EA1B"/>
                </a:solidFill>
                <a:latin typeface="Montserrat"/>
              </a:rPr>
              <a:t>🔄 Calcoli In-Flight vs UPDATE Massivi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AS-IS: milioni di UPDATE a posteriori su Fact Table (es. UP_COSTI_TRASP). Undo/Redo log esauriti.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FFFFFF"/>
                </a:solidFill>
                <a:latin typeface="Montserrat"/>
              </a:rPr>
              <a:t>TO-BE: JOIN, costi e KPI calcolati in-memory durante la costruzione del DataFrame.</a:t>
            </a:r>
          </a:p>
        </p:txBody>
      </p:sp>
      <p:sp>
        <p:nvSpPr>
          <p:cNvPr id="44" name="Box5"/>
          <p:cNvSpPr/>
          <p:nvPr/>
        </p:nvSpPr>
        <p:spPr>
          <a:xfrm>
            <a:off x="4267200" y="3700000"/>
            <a:ext cx="3420000" cy="2484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lIns="152400" tIns="152400" rIns="152400" bIns="152400" anchor="t"/>
          <a:lstStyle/>
          <a:p>
            <a:r>
              <a:rPr lang="it-IT" sz="1400" b="1" dirty="0">
                <a:solidFill>
                  <a:srgbClr val="F8EA1B"/>
                </a:solidFill>
                <a:latin typeface="Montserrat"/>
              </a:rPr>
              <a:t>🧹 Addio all’Ingegneria Fisica Oracle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AAAAAA"/>
                </a:solidFill>
                <a:latin typeface="Montserrat"/>
              </a:rPr>
              <a:t>AS-IS: pacchetti utility (DWH_UTL) per Exchange Partition, indici e compressione manuale.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FFFFFF"/>
                </a:solidFill>
                <a:latin typeface="Montserrat"/>
              </a:rPr>
              <a:t>TO-BE: una riga nativa Delta Lake (replaceWhere) sostituisce tutto.</a:t>
            </a:r>
          </a:p>
        </p:txBody>
      </p:sp>
      <p:sp>
        <p:nvSpPr>
          <p:cNvPr id="45" name="Box6"/>
          <p:cNvSpPr/>
          <p:nvPr/>
        </p:nvSpPr>
        <p:spPr>
          <a:xfrm>
            <a:off x="8077200" y="3700000"/>
            <a:ext cx="3420000" cy="2484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lIns="152400" tIns="152400" rIns="152400" bIns="152400" anchor="ctr"/>
          <a:lstStyle/>
          <a:p>
            <a:r>
              <a:rPr lang="it-IT" sz="1400" b="1" dirty="0">
                <a:solidFill>
                  <a:srgbClr val="222222"/>
                </a:solidFill>
                <a:latin typeface="Montserrat"/>
              </a:rPr>
              <a:t>Da DB Relazionale a Data Lakehouse</a:t>
            </a:r>
          </a:p>
          <a:p>
            <a:endParaRPr lang="it-IT" dirty="0"/>
          </a:p>
          <a:p>
            <a:r>
              <a:rPr lang="it-IT" sz="1100" dirty="0">
                <a:solidFill>
                  <a:srgbClr val="222222"/>
                </a:solidFill>
                <a:latin typeface="Montserrat"/>
              </a:rPr>
              <a:t>Cambia l’approccio di lettura, salvataggio e governance del dato. Le logiche vengono razionalizzate in un unico punto.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D8D779C-00FB-4043-AE0D-B926C0191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it-IT" dirty="0"/>
              <a:t>CNO Logistico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2 -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Benefici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Attesi</a:t>
            </a:r>
            <a:endParaRPr sz="28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3657600" cy="234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CD7F32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640080" y="1162880"/>
            <a:ext cx="3291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7F32"/>
                </a:solidFill>
                <a:latin typeface="Montserrat"/>
              </a:rPr>
              <a:t>Dati disponibili la mattina</a:t>
            </a:r>
          </a:p>
          <a:p>
            <a:pPr algn="l"/>
            <a:endParaRPr sz="1600" b="0">
              <a:solidFill>
                <a:srgbClr val="CD7F32"/>
              </a:solidFill>
              <a:latin typeface="Montserrat"/>
            </a:endParaRPr>
          </a:p>
          <a:p>
            <a:pPr algn="l"/>
            <a:r>
              <a:rPr sz="1200" b="0">
                <a:solidFill>
                  <a:srgbClr val="CCCCCC"/>
                </a:solidFill>
                <a:latin typeface="Montserrat"/>
              </a:rPr>
              <a:t>La finestra batch passa da 6-17 ore a meno di 60 minuti grazie al calcolo distribuito PySpark. Nessun loop sequenziale, nessuna serialita forzata.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980000"/>
            <a:ext cx="3657600" cy="234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3BB27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450080" y="1162880"/>
            <a:ext cx="32918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BB273"/>
                </a:solidFill>
                <a:latin typeface="Montserrat"/>
              </a:rPr>
              <a:t>Zero Data Loss</a:t>
            </a:r>
          </a:p>
          <a:p>
            <a:pPr algn="l"/>
            <a:endParaRPr sz="1600" b="0">
              <a:solidFill>
                <a:srgbClr val="3BB273"/>
              </a:solidFill>
              <a:latin typeface="Montserrat"/>
            </a:endParaRPr>
          </a:p>
          <a:p>
            <a:pPr algn="l"/>
            <a:r>
              <a:rPr sz="1200" b="0">
                <a:solidFill>
                  <a:srgbClr val="CCCCCC"/>
                </a:solidFill>
                <a:latin typeface="Montserrat"/>
              </a:rPr>
              <a:t>Abolizione delle tabelle E_. COALESCE(ID, -1) per anagrafiche orfane: ogni record entra nei cruscotti. I totali finanziari e volumetrici quadrano sempre al 100%.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7200" y="980000"/>
            <a:ext cx="3657600" cy="234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7ECFC5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260080" y="1162880"/>
            <a:ext cx="32918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ECFC5"/>
                </a:solidFill>
                <a:latin typeface="Montserrat"/>
              </a:rPr>
              <a:t>DWH in Sola Lettura</a:t>
            </a:r>
          </a:p>
          <a:p>
            <a:pPr algn="l"/>
            <a:endParaRPr sz="1600" b="0">
              <a:solidFill>
                <a:srgbClr val="7ECFC5"/>
              </a:solidFill>
              <a:latin typeface="Montserrat"/>
            </a:endParaRPr>
          </a:p>
          <a:p>
            <a:pPr algn="l"/>
            <a:r>
              <a:rPr sz="1200" b="0">
                <a:solidFill>
                  <a:srgbClr val="CCCCCC"/>
                </a:solidFill>
                <a:latin typeface="Montserrat"/>
              </a:rPr>
              <a:t>Eliminazione della procedura ANNULLA_DATE. Il DWH non scrivera' mai piu' sui sistemi sorgente. Tracciamento incrementale via Delta Transaction Log nativo.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80245"/>
            <a:ext cx="3657600" cy="234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C0C0C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40080" y="3863125"/>
            <a:ext cx="32918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  <a:latin typeface="Montserrat"/>
              </a:rPr>
              <a:t>Osservabilita &amp; Debug</a:t>
            </a:r>
          </a:p>
          <a:p>
            <a:pPr algn="l"/>
            <a:endParaRPr sz="1600" b="0">
              <a:solidFill>
                <a:srgbClr val="C0C0C0"/>
              </a:solidFill>
              <a:latin typeface="Montserrat"/>
            </a:endParaRPr>
          </a:p>
          <a:p>
            <a:pPr algn="l"/>
            <a:r>
              <a:rPr sz="1200" b="0">
                <a:solidFill>
                  <a:srgbClr val="CCCCCC"/>
                </a:solidFill>
                <a:latin typeface="Montserrat"/>
              </a:rPr>
              <a:t>Unity Catalog mappa automaticamente il Data Lineage. I Workflows Databricks tracciano ogni esecuzione. Root-cause analysis di un errore: minuti, non ore di analisi PL/SQL.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200" y="3680245"/>
            <a:ext cx="3657600" cy="234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450080" y="3863125"/>
            <a:ext cx="3291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EA1B"/>
                </a:solidFill>
                <a:latin typeface="Montserrat"/>
              </a:rPr>
              <a:t>Scalabilita Cloud Elastica</a:t>
            </a:r>
          </a:p>
          <a:p>
            <a:pPr algn="l"/>
            <a:endParaRPr sz="1600" b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200" b="0">
                <a:solidFill>
                  <a:srgbClr val="CCCCCC"/>
                </a:solidFill>
                <a:latin typeface="Montserrat"/>
              </a:rPr>
              <a:t>Cluster effimeri: accesi per il batch notturno, spenti al termine. Il costo e' proporzionale al solo uso effettivo. Zero costi fissi infrastrutturali Oracle Exadata.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7200" y="3680245"/>
            <a:ext cx="3657600" cy="234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FFFFF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260080" y="3863125"/>
            <a:ext cx="32918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Continuita Logica di Business</a:t>
            </a:r>
          </a:p>
          <a:p>
            <a:pPr algn="l"/>
            <a:endParaRPr sz="1600" b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200" b="0">
                <a:solidFill>
                  <a:srgbClr val="CCCCCC"/>
                </a:solidFill>
                <a:latin typeface="Montserrat"/>
              </a:rPr>
              <a:t>Il 100% delle logiche di calcolo dei KPI (produttivita', lead time, saturazione, Fill Rate, costi noli) e' preservato e reimplementato in PySpark con testabilita automatica.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8EA1B"/>
                </a:solidFill>
                <a:latin typeface="Montserra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1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Montserra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200" y="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57200" y="1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Recap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Assessment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7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57200" y="19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7200" y="17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57200" y="19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dirty="0">
                <a:solidFill>
                  <a:srgbClr val="FFFFFF"/>
                </a:solidFill>
                <a:latin typeface="Montserrat"/>
              </a:rPr>
              <a:t>Architettura 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AS-IS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5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7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7200" y="25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257200" y="27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Principali Criticità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3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57200" y="35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7200" y="33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257200" y="35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La nuova architettura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57200" y="43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7200" y="4180000"/>
            <a:ext cx="10627600" cy="720000"/>
          </a:xfrm>
          <a:prstGeom prst="rect">
            <a:avLst/>
          </a:prstGeom>
          <a:solidFill>
            <a:srgbClr val="FFFF00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257200" y="43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1" dirty="0">
                <a:solidFill>
                  <a:sysClr val="windowText" lastClr="000000"/>
                </a:solidFill>
                <a:latin typeface="Montserrat"/>
              </a:rPr>
              <a:t>Il Progetto</a:t>
            </a:r>
            <a:endParaRPr sz="16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57200" y="5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7200" y="4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57200" y="5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Piano 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&amp;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Rischi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4419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2 - 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il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Perimetro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di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Migrazione</a:t>
            </a:r>
            <a:endParaRPr sz="28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3109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52277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AREA 1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07200" y="933109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7200" y="1121499"/>
            <a:ext cx="2500000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Montserrat"/>
              </a:rPr>
              <a:t>Master Data &amp;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Anagrafiche</a:t>
            </a:r>
            <a:endParaRPr lang="it-IT"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57200" y="1083027"/>
            <a:ext cx="7377600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Articoli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Siti, PDV,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Personale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Vettori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Fornitori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Tabelle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decodifica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dimensioni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Trasformazioni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quasi pass-through: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bassa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complessita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alto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impatto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strategico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(senza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queste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fatti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non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hanno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soggetti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0109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269277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AREA 2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07200" y="2050109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7200" y="2346221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Montserrat"/>
              </a:rPr>
              <a:t>Preparazione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Spedizioni</a:t>
            </a:r>
            <a:endParaRPr lang="it-IT"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7200" y="2200027"/>
            <a:ext cx="7377600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Area piu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complessa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Testate/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righe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bolle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calcolo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produttivita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operatori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logica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30 min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pausa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turni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aggregati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Fonte: PREP_SPED_NEW via WMS. Output: F_PREP_SPED, F_PROD_OPER, A_PROD_SITO.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67109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86277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AREA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7200" y="3167109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557200" y="3463221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Montserrat"/>
              </a:rPr>
              <a:t>Giacenze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&amp;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7200" y="3317027"/>
            <a:ext cx="7377600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Foto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giornaliera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dello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stock,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valorizzazione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saturazione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volumetrica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celle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/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corsie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magazzino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Grandi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volumi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Fonte: STOCK, IMM_MESE. Output: F_GIACENZE, F_UTILIZZO_MAG.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84109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503277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AREA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7200" y="4284109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7200" y="4580221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Montserrat"/>
              </a:rPr>
              <a:t>Carichi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(Inbound)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7200" y="4518666"/>
            <a:ext cx="7377600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Colli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in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entrata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pesate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lead-time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consegne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fornitori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Fonte: CARICO, BOLLE. Output: F_CARICHI,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aggregati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Lead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01109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620277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AREA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7200" y="5401109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57200" y="5697221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Montserrat"/>
              </a:rPr>
              <a:t>Trasporti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&amp;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Ordini</a:t>
            </a:r>
            <a:endParaRPr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57200" y="5635666"/>
            <a:ext cx="7377600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Evasione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ordini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soci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/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fornitori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costi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vettori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Fill Rate,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tracciabilita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cauzioni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pallet.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Fonte: ORDINI, TRASP, TRACC. Output: F_ORDINI, F_TRASP.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2 –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</a:t>
            </a:r>
            <a:r>
              <a:rPr lang="it-IT" sz="2800" b="0" dirty="0">
                <a:solidFill>
                  <a:srgbClr val="F8EA1B"/>
                </a:solidFill>
                <a:latin typeface="Montserrat"/>
              </a:rPr>
              <a:t>Fasi di progetto</a:t>
            </a:r>
            <a:endParaRPr sz="28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1800000" cy="1224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6275" y="1361168"/>
            <a:ext cx="1800000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222222"/>
                </a:solidFill>
                <a:latin typeface="Montserrat"/>
              </a:rPr>
              <a:t>Fase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 1 — </a:t>
            </a:r>
            <a:r>
              <a:rPr lang="it-IT" sz="1200" b="1" dirty="0">
                <a:solidFill>
                  <a:srgbClr val="222222"/>
                </a:solidFill>
                <a:latin typeface="Montserrat"/>
              </a:rPr>
              <a:t>START UP</a:t>
            </a:r>
          </a:p>
          <a:p>
            <a:pPr algn="ctr"/>
            <a:r>
              <a:rPr sz="1200" b="1" dirty="0" err="1">
                <a:solidFill>
                  <a:srgbClr val="222222"/>
                </a:solidFill>
                <a:latin typeface="Montserrat"/>
              </a:rPr>
              <a:t>Giu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 202</a:t>
            </a:r>
            <a:r>
              <a:rPr lang="it-IT" sz="1200" b="1" dirty="0">
                <a:solidFill>
                  <a:srgbClr val="222222"/>
                </a:solidFill>
                <a:latin typeface="Montserrat"/>
              </a:rPr>
              <a:t>6</a:t>
            </a:r>
          </a:p>
          <a:p>
            <a:pPr algn="ctr"/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07200" y="980000"/>
            <a:ext cx="9427600" cy="1224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57200" y="1030000"/>
            <a:ext cx="92276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Montserrat"/>
              </a:rPr>
              <a:t>Setup &amp; Skeleton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7200" y="1360000"/>
            <a:ext cx="9227600" cy="76944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Provisioning Azure Databricks, ADLS Gen2, Unity Catalog, Git.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Sviluppo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Notebook Template (Skeleton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PySpark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):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codice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generico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parametrizzato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per Bronze e Silver.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Data Engineer non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riscriveranno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mai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il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codice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base. </a:t>
            </a:r>
            <a:endParaRPr lang="it-IT" sz="110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Configurazione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CI/CD 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ambienti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Dev/Prod.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850"/>
            <a:ext cx="1800000" cy="1224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75" y="2690018"/>
            <a:ext cx="1800000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222222"/>
                </a:solidFill>
                <a:latin typeface="Montserrat"/>
              </a:rPr>
              <a:t>Fase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 2 — </a:t>
            </a:r>
            <a:r>
              <a:rPr lang="it-IT" sz="1200" b="1" dirty="0">
                <a:solidFill>
                  <a:srgbClr val="222222"/>
                </a:solidFill>
                <a:latin typeface="Montserrat"/>
              </a:rPr>
              <a:t>LOOKUP</a:t>
            </a:r>
          </a:p>
          <a:p>
            <a:pPr algn="ctr"/>
            <a:r>
              <a:rPr sz="1200" b="1" dirty="0">
                <a:solidFill>
                  <a:srgbClr val="222222"/>
                </a:solidFill>
                <a:latin typeface="Montserrat"/>
              </a:rPr>
              <a:t>Lug/Ago 202</a:t>
            </a:r>
            <a:r>
              <a:rPr lang="it-IT" sz="1200" b="1" dirty="0">
                <a:solidFill>
                  <a:srgbClr val="222222"/>
                </a:solidFill>
                <a:latin typeface="Montserrat"/>
              </a:rPr>
              <a:t>6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07200" y="2308850"/>
            <a:ext cx="9427600" cy="1224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57200" y="2358850"/>
            <a:ext cx="92276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Montserrat"/>
              </a:rPr>
              <a:t>Master Data &amp;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Anagrafiche</a:t>
            </a:r>
            <a:endParaRPr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57200" y="2688850"/>
            <a:ext cx="9227600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Migrazione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tutte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le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dimensioni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: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Articoli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Siti, PDV,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Personale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Vettori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Vantaggio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strategico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: le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tabelle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Gold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dimensioni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devono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essere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pronte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prima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fatti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Senza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esse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non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possono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fare LEFT JOIN ne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testare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dati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transazionali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45515"/>
            <a:ext cx="1800000" cy="1224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75" y="4026683"/>
            <a:ext cx="1800000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222222"/>
                </a:solidFill>
                <a:latin typeface="Montserrat"/>
              </a:rPr>
              <a:t>Fase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 3 — </a:t>
            </a:r>
            <a:r>
              <a:rPr lang="it-IT" sz="1200" b="1" dirty="0">
                <a:solidFill>
                  <a:srgbClr val="222222"/>
                </a:solidFill>
                <a:latin typeface="Montserrat"/>
              </a:rPr>
              <a:t>FACTS Ago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/</a:t>
            </a:r>
            <a:r>
              <a:rPr lang="it-IT" sz="1200" b="1" dirty="0">
                <a:solidFill>
                  <a:srgbClr val="222222"/>
                </a:solidFill>
                <a:latin typeface="Montserrat"/>
              </a:rPr>
              <a:t>Mar 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202</a:t>
            </a:r>
            <a:r>
              <a:rPr lang="it-IT" sz="1200" b="1" dirty="0">
                <a:solidFill>
                  <a:srgbClr val="222222"/>
                </a:solidFill>
                <a:latin typeface="Montserrat"/>
              </a:rPr>
              <a:t>7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07200" y="3645515"/>
            <a:ext cx="9427600" cy="1224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57200" y="3695515"/>
            <a:ext cx="92276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Montserrat"/>
              </a:rPr>
              <a:t>Aree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Funzionali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(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Spedizioni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Giacenze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Carichi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Trasporti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7200" y="4025515"/>
            <a:ext cx="9227600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Le 4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aree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funzionali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sviluppate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in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sequenza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usando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lo Skeleton come base. </a:t>
            </a:r>
            <a:endParaRPr lang="it-IT" sz="110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Ogni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area: Bronze (ingestion) &gt; Silver (cleansing, MERGE INTO) &gt; Gold (fact table, KPI in-memory) &gt;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Aggregati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Curva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apprendimento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gia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superata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: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sviluppo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veloce 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riuso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massivo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del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codice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82180"/>
            <a:ext cx="1800000" cy="1224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6275" y="5363348"/>
            <a:ext cx="1800000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222222"/>
                </a:solidFill>
                <a:latin typeface="Montserrat"/>
              </a:rPr>
              <a:t>Fase</a:t>
            </a:r>
            <a:r>
              <a:rPr sz="1200" b="1" dirty="0">
                <a:solidFill>
                  <a:srgbClr val="222222"/>
                </a:solidFill>
                <a:latin typeface="Montserrat"/>
              </a:rPr>
              <a:t> 4 — </a:t>
            </a:r>
            <a:r>
              <a:rPr lang="it-IT" sz="1200" b="1" dirty="0">
                <a:solidFill>
                  <a:srgbClr val="222222"/>
                </a:solidFill>
                <a:latin typeface="Montserrat"/>
              </a:rPr>
              <a:t>CHIUSURA</a:t>
            </a:r>
          </a:p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Go </a:t>
            </a:r>
            <a:r>
              <a:rPr lang="it-IT" sz="1200" b="1" dirty="0" err="1">
                <a:solidFill>
                  <a:srgbClr val="222222"/>
                </a:solidFill>
                <a:latin typeface="Montserrat"/>
              </a:rPr>
              <a:t>LIve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07200" y="4982180"/>
            <a:ext cx="9427600" cy="1224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57200" y="5032180"/>
            <a:ext cx="92276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solidFill>
                  <a:srgbClr val="FFFFFF"/>
                </a:solidFill>
                <a:latin typeface="Montserrat"/>
              </a:rPr>
              <a:t>GO Live finale</a:t>
            </a:r>
            <a:endParaRPr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57200" y="5362180"/>
            <a:ext cx="9227600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Dismissione Progetti Strategy</a:t>
            </a:r>
          </a:p>
          <a:p>
            <a:pPr algn="l"/>
            <a:r>
              <a:rPr lang="it-IT" sz="1100" dirty="0">
                <a:solidFill>
                  <a:srgbClr val="CCCCCC"/>
                </a:solidFill>
                <a:latin typeface="Montserrat"/>
              </a:rPr>
              <a:t>Dismissione definitiva attuale flusso Logistico</a:t>
            </a:r>
          </a:p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Rilascio risorse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Exadata</a:t>
            </a:r>
            <a:endParaRPr lang="en-US" sz="1100" b="0" dirty="0">
              <a:solidFill>
                <a:srgbClr val="CCCCCC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8EA1B"/>
                </a:solidFill>
                <a:latin typeface="Montserra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1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Montserra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200" y="9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57200" y="1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Recap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it-IT" sz="1600" b="0" dirty="0" err="1">
                <a:solidFill>
                  <a:srgbClr val="FFFFFF"/>
                </a:solidFill>
                <a:latin typeface="Montserrat"/>
              </a:rPr>
              <a:t>Assessment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7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57200" y="19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7200" y="17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57200" y="19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dirty="0">
                <a:solidFill>
                  <a:srgbClr val="FFFFFF"/>
                </a:solidFill>
                <a:latin typeface="Montserrat"/>
              </a:rPr>
              <a:t>Architettura </a:t>
            </a:r>
            <a:r>
              <a:rPr lang="it-IT" sz="1600" b="0" dirty="0">
                <a:solidFill>
                  <a:srgbClr val="FFFFFF"/>
                </a:solidFill>
                <a:latin typeface="Montserrat"/>
              </a:rPr>
              <a:t>AS-IS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5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7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7200" y="25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257200" y="27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Principali Criticità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3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57200" y="35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7200" y="33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257200" y="35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La nuova architettura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57200" y="43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7200" y="4180000"/>
            <a:ext cx="10627600" cy="72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257200" y="43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0" dirty="0">
                <a:solidFill>
                  <a:srgbClr val="FFFFFF"/>
                </a:solidFill>
                <a:latin typeface="Montserrat"/>
              </a:rPr>
              <a:t>Il Progetto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80000"/>
            <a:ext cx="600000" cy="72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57200" y="5170723"/>
            <a:ext cx="6000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Montserrat"/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7200" y="4980000"/>
            <a:ext cx="10627600" cy="720000"/>
          </a:xfrm>
          <a:prstGeom prst="rect">
            <a:avLst/>
          </a:prstGeom>
          <a:solidFill>
            <a:srgbClr val="FFFF00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57200" y="5170723"/>
            <a:ext cx="575320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600" b="1" dirty="0">
                <a:solidFill>
                  <a:sysClr val="windowText" lastClr="000000"/>
                </a:solidFill>
                <a:latin typeface="Montserrat"/>
              </a:rPr>
              <a:t>Piano </a:t>
            </a:r>
            <a:r>
              <a:rPr sz="1600" b="1" dirty="0">
                <a:solidFill>
                  <a:sysClr val="windowText" lastClr="000000"/>
                </a:solidFill>
                <a:latin typeface="Montserrat"/>
              </a:rPr>
              <a:t>&amp; </a:t>
            </a:r>
            <a:r>
              <a:rPr sz="1600" b="1" dirty="0" err="1">
                <a:solidFill>
                  <a:sysClr val="windowText" lastClr="000000"/>
                </a:solidFill>
                <a:latin typeface="Montserrat"/>
              </a:rPr>
              <a:t>Rischi</a:t>
            </a:r>
            <a:endParaRPr sz="1600" b="1" dirty="0">
              <a:solidFill>
                <a:sysClr val="windowText" lastClr="000000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28157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8EA1B"/>
                </a:solidFill>
                <a:latin typeface="Montserrat"/>
              </a:rPr>
              <a:t>Il Team di Progetto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44925" y="1168390"/>
            <a:ext cx="1579099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ysClr val="windowText" lastClr="000000"/>
                </a:solidFill>
                <a:latin typeface="Montserrat"/>
              </a:rPr>
              <a:t>Cloud Solution Architect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88157" y="980000"/>
            <a:ext cx="633417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338157" y="1030000"/>
            <a:ext cx="6179262" cy="76944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Tech Lead del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progetto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Progetta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l'architettura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Medallion,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definisce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gli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standard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codice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PySpark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sviluppa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lo Skeleton Framework (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Fase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1).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Punto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riferimento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tecnico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per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tutte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le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decisioni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architetturali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47007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15815" y="2235397"/>
            <a:ext cx="1670485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ysClr val="windowText" lastClr="000000"/>
                </a:solidFill>
                <a:latin typeface="Montserrat"/>
              </a:rPr>
              <a:t>Cloud DevOps Engineer</a:t>
            </a:r>
            <a:r>
              <a:rPr lang="it-IT" sz="1400" b="1" dirty="0">
                <a:solidFill>
                  <a:sysClr val="windowText" lastClr="000000"/>
                </a:solidFill>
                <a:latin typeface="Montserrat"/>
              </a:rPr>
              <a:t> Senior</a:t>
            </a:r>
            <a:endParaRPr sz="14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88157" y="2033480"/>
            <a:ext cx="633417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338157" y="2083480"/>
            <a:ext cx="6179262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Provisioning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infrastruttura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Azure (ADLS, Unity Catalog, Databricks Workspace).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Configurazione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Git, CI/CD,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ambienti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Dev/Prod.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Networking 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connettivita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con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sistemi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on-premises.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0487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515815" y="3207033"/>
            <a:ext cx="1579099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ysClr val="windowText" lastClr="000000"/>
                </a:solidFill>
                <a:latin typeface="Montserrat"/>
              </a:rPr>
              <a:t>Cloud Solution Developer Senior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8157" y="3086960"/>
            <a:ext cx="633417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4338157" y="3136960"/>
            <a:ext cx="6179262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Sviluppo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notebook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PySpark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per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tutte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le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aree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funzionali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(Bronze, Silver, Gold).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Implementazione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logiche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di business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complesse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(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turni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produttivita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costi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noli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).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Riuso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sistematico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dello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Skeleton.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40440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b="1">
              <a:solidFill>
                <a:sysClr val="windowText" lastClr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4927" y="4328830"/>
            <a:ext cx="1579099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ysClr val="windowText" lastClr="000000"/>
                </a:solidFill>
                <a:latin typeface="Montserrat"/>
              </a:rPr>
              <a:t>Data Engineer Senior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8157" y="4140440"/>
            <a:ext cx="633417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338157" y="4190440"/>
            <a:ext cx="6179262" cy="76944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Analisi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dettaglio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sorgenti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AS-IS.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Mapping Source-to-Target per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ogni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area.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>
                <a:solidFill>
                  <a:srgbClr val="CCCCCC"/>
                </a:solidFill>
                <a:latin typeface="Montserrat"/>
              </a:rPr>
              <a:t>Primo punto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contatto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con il team CNO per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chiarimenti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sulle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logiche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calcolo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esistenti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93920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544926" y="5382310"/>
            <a:ext cx="1579099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ysClr val="windowText" lastClr="000000"/>
                </a:solidFill>
                <a:latin typeface="Montserrat"/>
              </a:rPr>
              <a:t>Data Analyst Senior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8157" y="5193920"/>
            <a:ext cx="633417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338157" y="5243920"/>
            <a:ext cx="6179262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Responsabile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della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fase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di Data Quality e Shadow Mode.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Costruzione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report di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confronto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Oracle vs Databricks. 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sz="1100" b="0" dirty="0" err="1">
                <a:solidFill>
                  <a:srgbClr val="CCCCCC"/>
                </a:solidFill>
                <a:latin typeface="Montserrat"/>
              </a:rPr>
              <a:t>Certificazione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dei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KPI con il business. </a:t>
            </a:r>
            <a:r>
              <a:rPr sz="1100" b="0" dirty="0" err="1">
                <a:solidFill>
                  <a:srgbClr val="CCCCCC"/>
                </a:solidFill>
                <a:latin typeface="Montserrat"/>
              </a:rPr>
              <a:t>Coordinamento</a:t>
            </a:r>
            <a:r>
              <a:rPr sz="1100" b="0" dirty="0">
                <a:solidFill>
                  <a:srgbClr val="CCCCCC"/>
                </a:solidFill>
                <a:latin typeface="Montserrat"/>
              </a:rPr>
              <a:t> UAT.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ADDC430E-7011-4ADA-99A5-2A1D0539FC07}"/>
              </a:ext>
            </a:extLst>
          </p:cNvPr>
          <p:cNvSpPr/>
          <p:nvPr/>
        </p:nvSpPr>
        <p:spPr>
          <a:xfrm>
            <a:off x="2361754" y="980000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38F0D5F5-E53D-4340-9B35-18044DAAA83F}"/>
              </a:ext>
            </a:extLst>
          </p:cNvPr>
          <p:cNvSpPr txBox="1"/>
          <p:nvPr/>
        </p:nvSpPr>
        <p:spPr>
          <a:xfrm>
            <a:off x="2449479" y="1168390"/>
            <a:ext cx="1579099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Federico </a:t>
            </a:r>
          </a:p>
          <a:p>
            <a:pPr algn="l"/>
            <a:r>
              <a:rPr lang="it-IT" sz="1200" b="1" dirty="0" err="1">
                <a:solidFill>
                  <a:sysClr val="windowText" lastClr="000000"/>
                </a:solidFill>
                <a:latin typeface="Montserrat"/>
              </a:rPr>
              <a:t>Soldani</a:t>
            </a:r>
            <a:endParaRPr sz="12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51CFA389-E7A7-47C2-80EA-7BB8E5261F19}"/>
              </a:ext>
            </a:extLst>
          </p:cNvPr>
          <p:cNvSpPr/>
          <p:nvPr/>
        </p:nvSpPr>
        <p:spPr>
          <a:xfrm>
            <a:off x="2361754" y="2047007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861B9D95-2F13-4BEE-A6FD-145D7C0F7884}"/>
              </a:ext>
            </a:extLst>
          </p:cNvPr>
          <p:cNvSpPr txBox="1"/>
          <p:nvPr/>
        </p:nvSpPr>
        <p:spPr>
          <a:xfrm>
            <a:off x="2402923" y="2235397"/>
            <a:ext cx="16879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Alessandro Mancini</a:t>
            </a:r>
            <a:endParaRPr sz="12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BAD01D71-6557-4170-B26C-04784BA2DACD}"/>
              </a:ext>
            </a:extLst>
          </p:cNvPr>
          <p:cNvSpPr/>
          <p:nvPr/>
        </p:nvSpPr>
        <p:spPr>
          <a:xfrm>
            <a:off x="2361754" y="3100487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3085D141-945D-455C-8BCE-282C0936714B}"/>
              </a:ext>
            </a:extLst>
          </p:cNvPr>
          <p:cNvSpPr txBox="1"/>
          <p:nvPr/>
        </p:nvSpPr>
        <p:spPr>
          <a:xfrm>
            <a:off x="2420369" y="3319655"/>
            <a:ext cx="1579099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Davide </a:t>
            </a:r>
          </a:p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Perra</a:t>
            </a:r>
            <a:endParaRPr sz="12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711F1F0B-4C3C-4B78-BF88-CBB5632CB100}"/>
              </a:ext>
            </a:extLst>
          </p:cNvPr>
          <p:cNvSpPr/>
          <p:nvPr/>
        </p:nvSpPr>
        <p:spPr>
          <a:xfrm>
            <a:off x="2361754" y="4140440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b="1">
              <a:solidFill>
                <a:sysClr val="windowText" lastClr="000000"/>
              </a:solidFill>
            </a:endParaRP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B77A0632-25A2-47F0-B14C-9322225F19B7}"/>
              </a:ext>
            </a:extLst>
          </p:cNvPr>
          <p:cNvSpPr txBox="1"/>
          <p:nvPr/>
        </p:nvSpPr>
        <p:spPr>
          <a:xfrm>
            <a:off x="2449481" y="4328830"/>
            <a:ext cx="1579099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*Francesco Foconi</a:t>
            </a:r>
            <a:endParaRPr sz="12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6049F6AA-A6F9-4C07-B4A9-AA14461814B1}"/>
              </a:ext>
            </a:extLst>
          </p:cNvPr>
          <p:cNvSpPr/>
          <p:nvPr/>
        </p:nvSpPr>
        <p:spPr>
          <a:xfrm>
            <a:off x="2361754" y="5193920"/>
            <a:ext cx="1754554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E5C9DE8B-C8C8-4EB4-8F83-2EC76F12CB75}"/>
              </a:ext>
            </a:extLst>
          </p:cNvPr>
          <p:cNvSpPr txBox="1"/>
          <p:nvPr/>
        </p:nvSpPr>
        <p:spPr>
          <a:xfrm>
            <a:off x="2449480" y="5382310"/>
            <a:ext cx="1579099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Luca </a:t>
            </a:r>
          </a:p>
          <a:p>
            <a:pPr algn="l"/>
            <a:r>
              <a:rPr lang="it-IT" sz="1200" b="1" dirty="0" err="1">
                <a:solidFill>
                  <a:sysClr val="windowText" lastClr="000000"/>
                </a:solidFill>
                <a:latin typeface="Montserrat"/>
              </a:rPr>
              <a:t>Ganugi</a:t>
            </a:r>
            <a:endParaRPr sz="12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DCE4765E-55E1-45E4-AFAA-9DAAEA30D72F}"/>
              </a:ext>
            </a:extLst>
          </p:cNvPr>
          <p:cNvSpPr/>
          <p:nvPr/>
        </p:nvSpPr>
        <p:spPr>
          <a:xfrm>
            <a:off x="10594184" y="4094084"/>
            <a:ext cx="1317970" cy="900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200" dirty="0">
                <a:solidFill>
                  <a:sysClr val="windowText" lastClr="000000"/>
                </a:solidFill>
              </a:rPr>
              <a:t>PM ad interim</a:t>
            </a:r>
            <a:endParaRPr sz="120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2 - Meetings</a:t>
            </a:r>
            <a:endParaRPr sz="28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996478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307979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WEEK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07200" y="1996478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7200" y="2292590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solidFill>
                  <a:srgbClr val="FFFFFF"/>
                </a:solidFill>
                <a:latin typeface="Montserrat"/>
              </a:rPr>
              <a:t>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7200" y="2315673"/>
            <a:ext cx="7377600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30 minuti settimanali per allinearsi su attività in corso</a:t>
            </a:r>
            <a:endParaRPr sz="110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043143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354644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WAVE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07200" y="3043143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7200" y="3339255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solidFill>
                  <a:srgbClr val="FFFFFF"/>
                </a:solidFill>
                <a:latin typeface="Montserrat"/>
              </a:rPr>
              <a:t>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7200" y="3362338"/>
            <a:ext cx="7377600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Presentazione documento finale della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wave</a:t>
            </a:r>
            <a:endParaRPr sz="110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4089808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401309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7200" y="4089808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557200" y="4385920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solidFill>
                  <a:srgbClr val="FFFFFF"/>
                </a:solidFill>
                <a:latin typeface="Montserrat"/>
              </a:rPr>
              <a:t>Steering</a:t>
            </a:r>
            <a:endParaRPr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57200" y="4409003"/>
            <a:ext cx="7377600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Meeting </a:t>
            </a:r>
            <a:r>
              <a:rPr lang="it-IT" sz="1100" dirty="0">
                <a:solidFill>
                  <a:srgbClr val="CCCCCC"/>
                </a:solidFill>
                <a:latin typeface="Montserrat"/>
              </a:rPr>
              <a:t>mensile 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di avanzamento del piano di progetto</a:t>
            </a:r>
            <a:endParaRPr sz="110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5127583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439084"/>
            <a:ext cx="9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CLOSE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7200" y="5127583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57200" y="5423695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solidFill>
                  <a:srgbClr val="FFFFFF"/>
                </a:solidFill>
                <a:latin typeface="Montserrat"/>
              </a:rPr>
              <a:t>Chiusura di progetto</a:t>
            </a:r>
            <a:endParaRPr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57200" y="5446778"/>
            <a:ext cx="7377600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Presentazione documento di progetto finale</a:t>
            </a:r>
            <a:endParaRPr sz="110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12D6EC1F-0D7A-4230-B243-DEE735DA216D}"/>
              </a:ext>
            </a:extLst>
          </p:cNvPr>
          <p:cNvSpPr/>
          <p:nvPr/>
        </p:nvSpPr>
        <p:spPr>
          <a:xfrm>
            <a:off x="457200" y="954754"/>
            <a:ext cx="900000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FED346DE-D228-427B-AF93-8DC153740169}"/>
              </a:ext>
            </a:extLst>
          </p:cNvPr>
          <p:cNvSpPr txBox="1"/>
          <p:nvPr/>
        </p:nvSpPr>
        <p:spPr>
          <a:xfrm>
            <a:off x="457200" y="1173922"/>
            <a:ext cx="900000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START UP</a:t>
            </a: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42FE42C7-BFC9-4FAF-B96D-55EA35E7C62A}"/>
              </a:ext>
            </a:extLst>
          </p:cNvPr>
          <p:cNvSpPr/>
          <p:nvPr/>
        </p:nvSpPr>
        <p:spPr>
          <a:xfrm>
            <a:off x="1407200" y="954754"/>
            <a:ext cx="10327600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7ED430B1-1BAC-4F68-AF80-56AF2BEC1EA3}"/>
              </a:ext>
            </a:extLst>
          </p:cNvPr>
          <p:cNvSpPr txBox="1"/>
          <p:nvPr/>
        </p:nvSpPr>
        <p:spPr>
          <a:xfrm>
            <a:off x="1557200" y="1250866"/>
            <a:ext cx="2500000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solidFill>
                  <a:srgbClr val="FFFFFF"/>
                </a:solidFill>
                <a:latin typeface="Montserrat"/>
              </a:rPr>
              <a:t>GO LIVE</a:t>
            </a:r>
            <a:endParaRPr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D0CE62AB-5260-406A-857F-64A867F2E69C}"/>
              </a:ext>
            </a:extLst>
          </p:cNvPr>
          <p:cNvSpPr txBox="1"/>
          <p:nvPr/>
        </p:nvSpPr>
        <p:spPr>
          <a:xfrm>
            <a:off x="4157200" y="1273949"/>
            <a:ext cx="7377600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Riunione preliminare del team per avviare il progetto</a:t>
            </a:r>
          </a:p>
        </p:txBody>
      </p:sp>
    </p:spTree>
    <p:extLst>
      <p:ext uri="{BB962C8B-B14F-4D97-AF65-F5344CB8AC3E}">
        <p14:creationId xmlns:p14="http://schemas.microsoft.com/office/powerpoint/2010/main" val="1960830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2 -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Stime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per Wave</a:t>
            </a:r>
            <a:r>
              <a:rPr lang="it-IT" sz="2800" b="0" dirty="0">
                <a:solidFill>
                  <a:srgbClr val="F8EA1B"/>
                </a:solidFill>
                <a:latin typeface="Montserrat"/>
              </a:rPr>
              <a:t> -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Effort &amp;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Costo</a:t>
            </a:r>
            <a:endParaRPr sz="28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1150000" cy="648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49385" y="980000"/>
            <a:ext cx="1150000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rgbClr val="222222"/>
                </a:solidFill>
                <a:latin typeface="Montserrat"/>
              </a:rPr>
              <a:t>30-35</a:t>
            </a:r>
          </a:p>
          <a:p>
            <a:pPr algn="ctr"/>
            <a:r>
              <a:rPr sz="1400" b="1" dirty="0">
                <a:solidFill>
                  <a:srgbClr val="222222"/>
                </a:solidFill>
                <a:latin typeface="Montserrat"/>
              </a:rPr>
              <a:t>G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U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endParaRPr sz="14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57200" y="980000"/>
            <a:ext cx="2100000" cy="648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200" b="1">
              <a:solidFill>
                <a:sysClr val="windowText" lastClr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7200" y="1165501"/>
            <a:ext cx="20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Setup</a:t>
            </a:r>
            <a:endParaRPr sz="12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57200" y="980000"/>
            <a:ext cx="7877600" cy="648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007200" y="1088557"/>
            <a:ext cx="7677600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Configurazione Infrastruttura Cloud</a:t>
            </a:r>
          </a:p>
          <a:p>
            <a:pPr algn="l"/>
            <a:r>
              <a:rPr lang="it-IT" sz="1100" dirty="0">
                <a:solidFill>
                  <a:srgbClr val="CCCCCC"/>
                </a:solidFill>
                <a:latin typeface="Montserrat"/>
              </a:rPr>
              <a:t>Preparazione pipeline di </a:t>
            </a:r>
            <a:r>
              <a:rPr lang="it-IT" sz="1100" dirty="0" err="1">
                <a:solidFill>
                  <a:srgbClr val="CCCCCC"/>
                </a:solidFill>
                <a:latin typeface="Montserrat"/>
              </a:rPr>
              <a:t>deploy</a:t>
            </a:r>
            <a:r>
              <a:rPr lang="it-IT" sz="1100" dirty="0">
                <a:solidFill>
                  <a:srgbClr val="CCCCCC"/>
                </a:solidFill>
                <a:latin typeface="Montserrat"/>
              </a:rPr>
              <a:t> e architettura processi a </a:t>
            </a:r>
            <a:r>
              <a:rPr lang="it-IT" sz="1100" dirty="0" err="1">
                <a:solidFill>
                  <a:srgbClr val="CCCCCC"/>
                </a:solidFill>
                <a:latin typeface="Montserrat"/>
              </a:rPr>
              <a:t>scheleton</a:t>
            </a:r>
            <a:endParaRPr lang="it-IT" sz="110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714146"/>
            <a:ext cx="1150000" cy="648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57200" y="1714146"/>
            <a:ext cx="1150000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rgbClr val="222222"/>
                </a:solidFill>
                <a:latin typeface="Montserrat"/>
              </a:rPr>
              <a:t>25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-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30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 </a:t>
            </a:r>
            <a:endParaRPr lang="it-IT" sz="1400" b="1" dirty="0">
              <a:solidFill>
                <a:srgbClr val="222222"/>
              </a:solidFill>
              <a:latin typeface="Montserrat"/>
            </a:endParaRPr>
          </a:p>
          <a:p>
            <a:pPr algn="ctr"/>
            <a:r>
              <a:rPr sz="1400" b="1" dirty="0">
                <a:solidFill>
                  <a:srgbClr val="222222"/>
                </a:solidFill>
                <a:latin typeface="Montserrat"/>
              </a:rPr>
              <a:t>G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U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endParaRPr sz="14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57200" y="1714146"/>
            <a:ext cx="2100000" cy="648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7200" y="1884258"/>
            <a:ext cx="20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Anagrafiche</a:t>
            </a:r>
            <a:endParaRPr sz="12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57200" y="1714146"/>
            <a:ext cx="7877600" cy="648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4007200" y="1822703"/>
            <a:ext cx="7677600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Anagrafiche e dimensioni: Articoli, Siti, PDV, Personale, Vettori. </a:t>
            </a:r>
          </a:p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Trasformazioni quasi pass-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through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,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migrabile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 in blocco.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48292"/>
            <a:ext cx="1150000" cy="648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57200" y="2448292"/>
            <a:ext cx="1150000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rgbClr val="222222"/>
                </a:solidFill>
                <a:latin typeface="Montserrat"/>
              </a:rPr>
              <a:t>45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-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50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 </a:t>
            </a:r>
            <a:endParaRPr lang="it-IT" sz="1400" b="1" dirty="0">
              <a:solidFill>
                <a:srgbClr val="222222"/>
              </a:solidFill>
              <a:latin typeface="Montserrat"/>
            </a:endParaRPr>
          </a:p>
          <a:p>
            <a:pPr algn="ctr"/>
            <a:r>
              <a:rPr sz="1400" b="1" dirty="0">
                <a:solidFill>
                  <a:srgbClr val="222222"/>
                </a:solidFill>
                <a:latin typeface="Montserrat"/>
              </a:rPr>
              <a:t>G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U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endParaRPr sz="14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657200" y="2448292"/>
            <a:ext cx="2100000" cy="648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200" b="1">
              <a:solidFill>
                <a:sysClr val="windowText" lastClr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7200" y="2541460"/>
            <a:ext cx="2000000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Preparazione Spedizioni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7200" y="2448292"/>
            <a:ext cx="7877600" cy="648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4007200" y="2556849"/>
            <a:ext cx="7677600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Area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piu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 complessa: turni, pause operatori,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produttivita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. </a:t>
            </a:r>
          </a:p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Include la creazione del Framework Skeleton riutilizzato per tutte le aree successive.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82438"/>
            <a:ext cx="1150000" cy="648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57200" y="3182438"/>
            <a:ext cx="1150000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rgbClr val="222222"/>
                </a:solidFill>
                <a:latin typeface="Montserrat"/>
              </a:rPr>
              <a:t>35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-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40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 </a:t>
            </a:r>
            <a:endParaRPr lang="it-IT" sz="1400" b="1" dirty="0">
              <a:solidFill>
                <a:srgbClr val="222222"/>
              </a:solidFill>
              <a:latin typeface="Montserrat"/>
            </a:endParaRPr>
          </a:p>
          <a:p>
            <a:pPr algn="ctr"/>
            <a:r>
              <a:rPr sz="1400" b="1" dirty="0">
                <a:solidFill>
                  <a:srgbClr val="222222"/>
                </a:solidFill>
                <a:latin typeface="Montserrat"/>
              </a:rPr>
              <a:t>G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U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endParaRPr sz="14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57200" y="3182438"/>
            <a:ext cx="2100000" cy="648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200" b="1">
              <a:solidFill>
                <a:sysClr val="windowText" lastClr="0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57200" y="3352550"/>
            <a:ext cx="20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Giacenze &amp; 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7200" y="3182438"/>
            <a:ext cx="7877600" cy="648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4007200" y="3290995"/>
            <a:ext cx="7677600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Foto giornaliera stock, saturazione volumetrica, mappa celle/corsie. </a:t>
            </a:r>
          </a:p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Grandi volumi ma logiche KPI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piu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 lineari rispetto alle Spedizioni.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16584"/>
            <a:ext cx="1150000" cy="648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457200" y="3916584"/>
            <a:ext cx="1150000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rgbClr val="222222"/>
                </a:solidFill>
                <a:latin typeface="Montserrat"/>
              </a:rPr>
              <a:t>35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-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40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 </a:t>
            </a:r>
            <a:endParaRPr lang="it-IT" sz="1400" b="1" dirty="0">
              <a:solidFill>
                <a:srgbClr val="222222"/>
              </a:solidFill>
              <a:latin typeface="Montserrat"/>
            </a:endParaRPr>
          </a:p>
          <a:p>
            <a:pPr algn="ctr"/>
            <a:r>
              <a:rPr sz="1400" b="1" dirty="0">
                <a:solidFill>
                  <a:srgbClr val="222222"/>
                </a:solidFill>
                <a:latin typeface="Montserrat"/>
              </a:rPr>
              <a:t>G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U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endParaRPr sz="14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657200" y="3916584"/>
            <a:ext cx="2100000" cy="648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200" b="1">
              <a:solidFill>
                <a:sysClr val="windowText" lastClr="0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57200" y="4086696"/>
            <a:ext cx="20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Carichi (Inbound)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7200" y="3916584"/>
            <a:ext cx="7877600" cy="648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4007200" y="4025141"/>
            <a:ext cx="7677600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Colli in entrata, pesate, lead-time fornitori. </a:t>
            </a:r>
          </a:p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Struttura dati testata/riga classica, sviluppo rapido con framework a regime.</a:t>
            </a:r>
          </a:p>
          <a:p>
            <a:pPr algn="l"/>
            <a:endParaRPr sz="110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4650730"/>
            <a:ext cx="1150000" cy="648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457200" y="4650730"/>
            <a:ext cx="1150000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rgbClr val="222222"/>
                </a:solidFill>
                <a:latin typeface="Montserrat"/>
              </a:rPr>
              <a:t>35-40</a:t>
            </a:r>
          </a:p>
          <a:p>
            <a:pPr algn="ctr"/>
            <a:r>
              <a:rPr sz="1400" b="1" dirty="0">
                <a:solidFill>
                  <a:srgbClr val="222222"/>
                </a:solidFill>
                <a:latin typeface="Montserrat"/>
              </a:rPr>
              <a:t>G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U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.</a:t>
            </a:r>
            <a:endParaRPr sz="14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657200" y="4650730"/>
            <a:ext cx="2100000" cy="648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200" b="1">
              <a:solidFill>
                <a:sysClr val="windowText" lastClr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57200" y="4836231"/>
            <a:ext cx="200000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200" b="1" dirty="0">
                <a:solidFill>
                  <a:sysClr val="windowText" lastClr="000000"/>
                </a:solidFill>
                <a:latin typeface="Montserrat"/>
              </a:rPr>
              <a:t>TRASPORTI</a:t>
            </a:r>
            <a:endParaRPr sz="1200" b="1" dirty="0">
              <a:solidFill>
                <a:sysClr val="windowText" lastClr="000000"/>
              </a:solidFill>
              <a:latin typeface="Montserra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857200" y="4650730"/>
            <a:ext cx="7877600" cy="648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4007200" y="4759287"/>
            <a:ext cx="7677600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Evasione ordini, costi vettori,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Fill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 Rate,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tracciabilita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. </a:t>
            </a:r>
          </a:p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Perimetro dati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piu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 circoscritto, </a:t>
            </a:r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complessita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 media.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413600"/>
            <a:ext cx="11277600" cy="584775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476119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Montserrat"/>
              </a:rPr>
              <a:t>TOTALE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: </a:t>
            </a:r>
            <a:r>
              <a:rPr lang="it-IT" sz="1300" b="1" dirty="0">
                <a:solidFill>
                  <a:srgbClr val="222222"/>
                </a:solidFill>
                <a:latin typeface="Montserrat"/>
              </a:rPr>
              <a:t>~215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Montserrat"/>
              </a:rPr>
              <a:t>Giorni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Montserrat"/>
              </a:rPr>
              <a:t>Uomo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   |   </a:t>
            </a:r>
            <a:r>
              <a:rPr sz="1300" b="1" dirty="0" err="1">
                <a:solidFill>
                  <a:srgbClr val="222222"/>
                </a:solidFill>
                <a:latin typeface="Montserrat"/>
              </a:rPr>
              <a:t>Costo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Montserrat"/>
              </a:rPr>
              <a:t>complessivo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: EUR </a:t>
            </a:r>
            <a:r>
              <a:rPr lang="it-IT" sz="1300" b="1" dirty="0">
                <a:solidFill>
                  <a:srgbClr val="222222"/>
                </a:solidFill>
                <a:latin typeface="Montserrat"/>
              </a:rPr>
              <a:t>97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.</a:t>
            </a:r>
            <a:r>
              <a:rPr lang="it-IT" sz="1300" b="1" dirty="0">
                <a:solidFill>
                  <a:srgbClr val="222222"/>
                </a:solidFill>
                <a:latin typeface="Montserrat"/>
              </a:rPr>
              <a:t>000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   |   </a:t>
            </a:r>
            <a:r>
              <a:rPr sz="1300" b="1" dirty="0" err="1">
                <a:solidFill>
                  <a:srgbClr val="222222"/>
                </a:solidFill>
                <a:latin typeface="Montserrat"/>
              </a:rPr>
              <a:t>Durata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: </a:t>
            </a:r>
            <a:r>
              <a:rPr lang="it-IT" sz="1300" b="1" dirty="0">
                <a:solidFill>
                  <a:srgbClr val="222222"/>
                </a:solidFill>
                <a:latin typeface="Montserrat"/>
              </a:rPr>
              <a:t>8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-1</a:t>
            </a:r>
            <a:r>
              <a:rPr lang="it-IT" sz="1300" b="1" dirty="0">
                <a:solidFill>
                  <a:srgbClr val="222222"/>
                </a:solidFill>
                <a:latin typeface="Montserrat"/>
              </a:rPr>
              <a:t>0</a:t>
            </a:r>
            <a:r>
              <a:rPr sz="1300" b="1" dirty="0">
                <a:solidFill>
                  <a:srgbClr val="222222"/>
                </a:solidFill>
                <a:latin typeface="Montserrat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Montserrat"/>
              </a:rPr>
              <a:t>mesi</a:t>
            </a:r>
            <a:endParaRPr sz="1300" b="1" dirty="0">
              <a:solidFill>
                <a:srgbClr val="222222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2 - 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Piano di Progetto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392000" y="180000"/>
            <a:ext cx="2350000" cy="6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37200" y="1411598"/>
            <a:ext cx="9597600" cy="64800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92000" y="318335"/>
            <a:ext cx="235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222222"/>
                </a:solidFill>
                <a:latin typeface="Montserrat"/>
              </a:rPr>
              <a:t>Totale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: EUR 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97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.</a:t>
            </a:r>
            <a:r>
              <a:rPr lang="it-IT" sz="1400" b="1" dirty="0">
                <a:solidFill>
                  <a:srgbClr val="222222"/>
                </a:solidFill>
                <a:latin typeface="Montserrat"/>
              </a:rPr>
              <a:t>0</a:t>
            </a:r>
            <a:r>
              <a:rPr sz="1400" b="1" dirty="0">
                <a:solidFill>
                  <a:srgbClr val="222222"/>
                </a:solidFill>
                <a:latin typeface="Montserrat"/>
              </a:rPr>
              <a:t>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1599"/>
            <a:ext cx="1600000" cy="33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00"/>
          </a:p>
        </p:txBody>
      </p:sp>
      <p:sp>
        <p:nvSpPr>
          <p:cNvPr id="7" name="TextBox 6"/>
          <p:cNvSpPr txBox="1"/>
          <p:nvPr/>
        </p:nvSpPr>
        <p:spPr>
          <a:xfrm>
            <a:off x="537200" y="1081599"/>
            <a:ext cx="1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8EA1B"/>
                </a:solidFill>
                <a:latin typeface="Montserrat"/>
              </a:rPr>
              <a:t>WAVE / AREA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7200" y="2127889"/>
            <a:ext cx="9597600" cy="648000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37200" y="1081599"/>
            <a:ext cx="9597600" cy="33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00"/>
          </a:p>
        </p:txBody>
      </p:sp>
      <p:sp>
        <p:nvSpPr>
          <p:cNvPr id="9" name="TextBox 8"/>
          <p:cNvSpPr txBox="1"/>
          <p:nvPr/>
        </p:nvSpPr>
        <p:spPr>
          <a:xfrm>
            <a:off x="2137200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GIU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6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09709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LUG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6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37200" y="2828552"/>
            <a:ext cx="9597600" cy="64800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2218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AGO 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26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727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SET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6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7236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OTT 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26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137200" y="3537030"/>
            <a:ext cx="9597600" cy="648000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9745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NOV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6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72254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DIC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6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44763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GEN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7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137200" y="4229870"/>
            <a:ext cx="9597600" cy="64800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17272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FEB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7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989781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MAR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7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62290" y="1081599"/>
            <a:ext cx="87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Montserrat"/>
              </a:rPr>
              <a:t>APR 2</a:t>
            </a:r>
            <a:r>
              <a:rPr lang="it-IT" sz="1000" b="0" dirty="0">
                <a:solidFill>
                  <a:srgbClr val="FFFFFF"/>
                </a:solidFill>
                <a:latin typeface="Montserrat"/>
              </a:rPr>
              <a:t>7</a:t>
            </a:r>
            <a:endParaRPr sz="10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137200" y="4922718"/>
            <a:ext cx="9597600" cy="648000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411598"/>
            <a:ext cx="1600000" cy="64800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21">
            <a:extLst>
              <a:ext uri="{FF2B5EF4-FFF2-40B4-BE49-F238E27FC236}">
                <a16:creationId xmlns:a16="http://schemas.microsoft.com/office/drawing/2014/main" id="{6B7333B8-4FFD-44C6-BC4A-DE6CC788BB7C}"/>
              </a:ext>
            </a:extLst>
          </p:cNvPr>
          <p:cNvSpPr/>
          <p:nvPr/>
        </p:nvSpPr>
        <p:spPr>
          <a:xfrm rot="5400000">
            <a:off x="2141451" y="3387543"/>
            <a:ext cx="4253531" cy="225537"/>
          </a:xfrm>
          <a:prstGeom prst="rect">
            <a:avLst/>
          </a:prstGeom>
          <a:solidFill>
            <a:schemeClr val="tx1">
              <a:lumMod val="25000"/>
            </a:schemeClr>
          </a:solidFill>
          <a:ln w="6350">
            <a:solidFill>
              <a:srgbClr val="2A2A2A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7200" y="1597099"/>
            <a:ext cx="1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8EA1B"/>
                </a:solidFill>
                <a:latin typeface="Montserrat"/>
              </a:rPr>
              <a:t>0 </a:t>
            </a:r>
            <a:r>
              <a:rPr lang="it-IT" sz="1200" b="0" dirty="0">
                <a:solidFill>
                  <a:srgbClr val="F8EA1B"/>
                </a:solidFill>
                <a:latin typeface="Montserrat"/>
              </a:rPr>
              <a:t>–</a:t>
            </a:r>
            <a:r>
              <a:rPr sz="1200" b="0" dirty="0">
                <a:solidFill>
                  <a:srgbClr val="F8EA1B"/>
                </a:solidFill>
                <a:latin typeface="Montserrat"/>
              </a:rPr>
              <a:t> Setup</a:t>
            </a:r>
            <a:endParaRPr lang="it-IT" sz="12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2127889"/>
            <a:ext cx="1600000" cy="648000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7200" y="2313390"/>
            <a:ext cx="1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7ECFC5"/>
                </a:solidFill>
                <a:latin typeface="Montserrat"/>
              </a:rPr>
              <a:t>1 - Master Data</a:t>
            </a:r>
            <a:endParaRPr lang="it-IT" sz="1200" b="0" dirty="0">
              <a:solidFill>
                <a:srgbClr val="7ECFC5"/>
              </a:solidFill>
              <a:latin typeface="Montserra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200" y="2828553"/>
            <a:ext cx="1600000" cy="647999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7200" y="3016614"/>
            <a:ext cx="1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E84855"/>
                </a:solidFill>
                <a:latin typeface="Montserrat"/>
              </a:rPr>
              <a:t>2 </a:t>
            </a:r>
            <a:r>
              <a:rPr lang="it-IT" sz="1200" b="0" dirty="0">
                <a:solidFill>
                  <a:srgbClr val="E84855"/>
                </a:solidFill>
                <a:latin typeface="Montserrat"/>
              </a:rPr>
              <a:t>–</a:t>
            </a:r>
            <a:r>
              <a:rPr sz="1200" b="0" dirty="0">
                <a:solidFill>
                  <a:srgbClr val="E84855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E84855"/>
                </a:solidFill>
                <a:latin typeface="Montserrat"/>
              </a:rPr>
              <a:t>Spedizioni</a:t>
            </a:r>
            <a:endParaRPr lang="it-IT" sz="1200" b="0" dirty="0">
              <a:solidFill>
                <a:srgbClr val="E84855"/>
              </a:solidFill>
              <a:latin typeface="Montserra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3537030"/>
            <a:ext cx="1600000" cy="648000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7200" y="3735916"/>
            <a:ext cx="1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BB273"/>
                </a:solidFill>
                <a:latin typeface="Montserrat"/>
              </a:rPr>
              <a:t>3 - </a:t>
            </a:r>
            <a:r>
              <a:rPr sz="1200" b="0" dirty="0" err="1">
                <a:solidFill>
                  <a:srgbClr val="3BB273"/>
                </a:solidFill>
                <a:latin typeface="Montserrat"/>
              </a:rPr>
              <a:t>Giacenze</a:t>
            </a:r>
            <a:endParaRPr sz="1200" b="0" dirty="0">
              <a:solidFill>
                <a:srgbClr val="3BB273"/>
              </a:solidFill>
              <a:latin typeface="Montserra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4229870"/>
            <a:ext cx="1600000" cy="64800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7200" y="4428756"/>
            <a:ext cx="1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6CD5"/>
                </a:solidFill>
                <a:latin typeface="Montserrat"/>
              </a:rPr>
              <a:t>4 - Carichi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922718"/>
            <a:ext cx="1600000" cy="648000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7200" y="5121604"/>
            <a:ext cx="1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C8A400"/>
                </a:solidFill>
                <a:latin typeface="Montserrat"/>
              </a:rPr>
              <a:t>5 - </a:t>
            </a:r>
            <a:r>
              <a:rPr sz="1200" b="0" dirty="0" err="1">
                <a:solidFill>
                  <a:srgbClr val="C8A400"/>
                </a:solidFill>
                <a:latin typeface="Montserrat"/>
              </a:rPr>
              <a:t>Trasporti</a:t>
            </a:r>
            <a:endParaRPr sz="1200" b="0" dirty="0">
              <a:solidFill>
                <a:srgbClr val="C8A400"/>
              </a:solidFill>
              <a:latin typeface="Montserrat"/>
            </a:endParaRPr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81D0F615-7B0E-4F74-904C-5E292FFDCC57}"/>
              </a:ext>
            </a:extLst>
          </p:cNvPr>
          <p:cNvSpPr/>
          <p:nvPr/>
        </p:nvSpPr>
        <p:spPr>
          <a:xfrm rot="5400000">
            <a:off x="6125198" y="3430020"/>
            <a:ext cx="4253531" cy="140584"/>
          </a:xfrm>
          <a:prstGeom prst="rect">
            <a:avLst/>
          </a:prstGeom>
          <a:solidFill>
            <a:schemeClr val="tx1">
              <a:lumMod val="25000"/>
            </a:schemeClr>
          </a:solidFill>
          <a:ln w="6350">
            <a:solidFill>
              <a:srgbClr val="2A2A2A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52199" y="1532699"/>
            <a:ext cx="1224047" cy="408166"/>
          </a:xfrm>
          <a:prstGeom prst="homePlate">
            <a:avLst/>
          </a:prstGeom>
          <a:solidFill>
            <a:srgbClr val="F8EA1B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28155" y="2248990"/>
            <a:ext cx="1726572" cy="408166"/>
          </a:xfrm>
          <a:prstGeom prst="homePlate">
            <a:avLst/>
          </a:prstGeom>
          <a:solidFill>
            <a:srgbClr val="7ECFC5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0984" y="2938829"/>
            <a:ext cx="2569096" cy="408166"/>
          </a:xfrm>
          <a:prstGeom prst="homePlate">
            <a:avLst/>
          </a:prstGeom>
          <a:solidFill>
            <a:srgbClr val="E84855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99448" y="3652548"/>
            <a:ext cx="2082223" cy="408166"/>
          </a:xfrm>
          <a:prstGeom prst="homePlate">
            <a:avLst/>
          </a:prstGeom>
          <a:solidFill>
            <a:srgbClr val="3BB273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11016" y="4345388"/>
            <a:ext cx="2185966" cy="408166"/>
          </a:xfrm>
          <a:prstGeom prst="homePlate">
            <a:avLst/>
          </a:prstGeom>
          <a:solidFill>
            <a:srgbClr val="A06CD5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553847" y="5038236"/>
            <a:ext cx="1747199" cy="408166"/>
          </a:xfrm>
          <a:prstGeom prst="homePlate">
            <a:avLst/>
          </a:prstGeom>
          <a:solidFill>
            <a:srgbClr val="C8A4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 err="1">
                <a:solidFill>
                  <a:srgbClr val="F8EA1B"/>
                </a:solidFill>
                <a:latin typeface="Montserrat"/>
              </a:rPr>
              <a:t>Rischi</a:t>
            </a:r>
            <a:r>
              <a:rPr sz="2800" b="0" dirty="0">
                <a:solidFill>
                  <a:srgbClr val="F8EA1B"/>
                </a:solidFill>
                <a:latin typeface="Montserrat"/>
              </a:rPr>
              <a:t> di Progetto e </a:t>
            </a:r>
            <a:r>
              <a:rPr sz="2800" b="0" dirty="0" err="1">
                <a:solidFill>
                  <a:srgbClr val="F8EA1B"/>
                </a:solidFill>
                <a:latin typeface="Montserrat"/>
              </a:rPr>
              <a:t>Mitigazioni</a:t>
            </a:r>
            <a:endParaRPr sz="28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80000"/>
            <a:ext cx="700000" cy="108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1393042"/>
            <a:ext cx="70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222222"/>
                </a:solidFill>
                <a:latin typeface="Montserrat"/>
              </a:rPr>
              <a:t>MEDIO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200" y="980000"/>
            <a:ext cx="5188800" cy="108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357200" y="1060000"/>
            <a:ext cx="49888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Dipendenza da terzi per Initial Load</a:t>
            </a:r>
          </a:p>
          <a:p>
            <a:pPr algn="l"/>
            <a:endParaRPr sz="1200" b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Il caricamento storico delle anagrafiche richiede coordinamento con Reply. Eventuali ritardi nel rispondere alle richieste possono slittare la Fase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6000" y="980000"/>
            <a:ext cx="5188800" cy="10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6646000" y="1060000"/>
            <a:ext cx="4988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EA1B"/>
                </a:solidFill>
                <a:latin typeface="Montserrat"/>
              </a:rPr>
              <a:t>Mitigazione:</a:t>
            </a:r>
          </a:p>
          <a:p>
            <a:pPr algn="l"/>
            <a:endParaRPr sz="1200" b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Il team assorbe i ritardi senza impattare il critical path. La Fase 3 puo iniziare in parallelo se le anagrafiche base sono disponibili.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47925"/>
            <a:ext cx="700000" cy="1080000"/>
          </a:xfrm>
          <a:prstGeom prst="rect">
            <a:avLst/>
          </a:prstGeom>
          <a:solidFill>
            <a:srgbClr val="E84855"/>
          </a:solidFill>
          <a:ln w="19050">
            <a:solidFill>
              <a:srgbClr val="E84855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57200" y="2760967"/>
            <a:ext cx="70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ontserrat"/>
              </a:rPr>
              <a:t>ALTO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200" y="2347925"/>
            <a:ext cx="5188800" cy="108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1357200" y="2427925"/>
            <a:ext cx="49888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Complessita logiche turni e produttivita</a:t>
            </a:r>
          </a:p>
          <a:p>
            <a:pPr algn="l"/>
            <a:endParaRPr sz="1200" b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Il calcolo dei 30 minuti di pausa operatori e la gestione delle sequenze PL/SQL e' la parte piu complessa. Rischio di regressione logica.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6000" y="2347925"/>
            <a:ext cx="5188800" cy="10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6646000" y="2427925"/>
            <a:ext cx="49888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EA1B"/>
                </a:solidFill>
                <a:latin typeface="Montserrat"/>
              </a:rPr>
              <a:t>Mitigazione:</a:t>
            </a:r>
          </a:p>
          <a:p>
            <a:pPr algn="l"/>
            <a:endParaRPr sz="1200" b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Shadow Mode obbligatorio: comparazione riga per riga tra Oracle e Databricks per almeno 4 settimane. Accettazione solo dopo quadratura certificata dal business CNO.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15850"/>
            <a:ext cx="700000" cy="1080000"/>
          </a:xfrm>
          <a:prstGeom prst="rect">
            <a:avLst/>
          </a:prstGeom>
          <a:solidFill>
            <a:srgbClr val="3BB273"/>
          </a:solidFill>
          <a:ln w="19050">
            <a:solidFill>
              <a:srgbClr val="3BB27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57200" y="4128892"/>
            <a:ext cx="70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222222"/>
                </a:solidFill>
                <a:latin typeface="Montserrat"/>
              </a:rPr>
              <a:t>BASSO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200" y="3715850"/>
            <a:ext cx="5188800" cy="108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357200" y="3795850"/>
            <a:ext cx="4988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Switch-off del sistema legacy</a:t>
            </a:r>
          </a:p>
          <a:p>
            <a:pPr algn="l"/>
            <a:endParaRPr sz="1200" b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Il cut-over da Oracle/ODI richiede la disattivazione di processi notturni critici. Rischio di resistenza organizzativa al cambiamento.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6000" y="3715850"/>
            <a:ext cx="5188800" cy="10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6646000" y="3795850"/>
            <a:ext cx="49888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EA1B"/>
                </a:solidFill>
                <a:latin typeface="Montserrat"/>
              </a:rPr>
              <a:t>Mitigazione:</a:t>
            </a:r>
          </a:p>
          <a:p>
            <a:pPr algn="l"/>
            <a:endParaRPr sz="1200" b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Go-Live solo dopo certificazione Shadow Mode. Periodo di coesistenza previsto. Il vecchio sistema resta in read-only per 30 giorni post cut-over.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83775"/>
            <a:ext cx="700000" cy="1080000"/>
          </a:xfrm>
          <a:prstGeom prst="rect">
            <a:avLst/>
          </a:prstGeom>
          <a:solidFill>
            <a:srgbClr val="3BB273"/>
          </a:solidFill>
          <a:ln w="19050">
            <a:solidFill>
              <a:srgbClr val="3BB27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57200" y="5496817"/>
            <a:ext cx="70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222222"/>
                </a:solidFill>
                <a:latin typeface="Montserrat"/>
              </a:rPr>
              <a:t>BASSO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7200" y="5083775"/>
            <a:ext cx="5188800" cy="108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1357200" y="5163775"/>
            <a:ext cx="4988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Configurazione infrastruttura Azure</a:t>
            </a:r>
          </a:p>
          <a:p>
            <a:pPr algn="l"/>
            <a:endParaRPr sz="1200" b="0">
              <a:solidFill>
                <a:srgbClr val="FFFFFF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Ritardi nel provisioning cloud (VNet, Private Endpoint, permessi ADLS) possono rallentare la Fase 1.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6000" y="5083775"/>
            <a:ext cx="5188800" cy="1080000"/>
          </a:xfrm>
          <a:prstGeom prst="rect">
            <a:avLst/>
          </a:prstGeom>
          <a:solidFill>
            <a:srgbClr val="222222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6646000" y="5163775"/>
            <a:ext cx="4988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EA1B"/>
                </a:solidFill>
                <a:latin typeface="Montserrat"/>
              </a:rPr>
              <a:t>Mitigazione:</a:t>
            </a:r>
          </a:p>
          <a:p>
            <a:pPr algn="l"/>
            <a:endParaRPr sz="1200" b="0">
              <a:solidFill>
                <a:srgbClr val="F8EA1B"/>
              </a:solidFill>
              <a:latin typeface="Montserrat"/>
            </a:endParaRPr>
          </a:p>
          <a:p>
            <a:pPr algn="l"/>
            <a:r>
              <a:rPr sz="1050" b="0">
                <a:solidFill>
                  <a:srgbClr val="CCCCCC"/>
                </a:solidFill>
                <a:latin typeface="Montserrat"/>
              </a:rPr>
              <a:t>Sviluppo Skeleton Framework in locale con Databricks Community. Deploy automatizzato via CI/CD una volta disponibile l'infrastruttura.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CNO Logistico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dirty="0">
                <a:solidFill>
                  <a:srgbClr val="F8EA1B"/>
                </a:solidFill>
                <a:latin typeface="Montserrat"/>
              </a:rPr>
              <a:t>Logistico 2 - Decisioni</a:t>
            </a:r>
            <a:endParaRPr sz="2800" b="0" dirty="0">
              <a:solidFill>
                <a:srgbClr val="F8EA1B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3648007"/>
            <a:ext cx="1723292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959508"/>
            <a:ext cx="172329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CHALLENGE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66462" y="3648007"/>
            <a:ext cx="946833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91508" y="3882564"/>
            <a:ext cx="9143292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Il piano ufficiale rimarrà questo in termini di tempistica, ma si cercherà di parallelizzare il più possibile le attività per cercare di completare tutto il progetto entro fine febbraio 2027.</a:t>
            </a:r>
            <a:endParaRPr sz="110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4694672"/>
            <a:ext cx="1723292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006173"/>
            <a:ext cx="172329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OFFERTA</a:t>
            </a:r>
            <a:endParaRPr sz="1200" b="1" dirty="0">
              <a:solidFill>
                <a:srgbClr val="222222"/>
              </a:solidFill>
              <a:latin typeface="Montserra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66462" y="4704351"/>
            <a:ext cx="946833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91508" y="4854269"/>
            <a:ext cx="9143292" cy="6001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 err="1">
                <a:solidFill>
                  <a:srgbClr val="CCCCCC"/>
                </a:solidFill>
                <a:latin typeface="Montserrat"/>
              </a:rPr>
              <a:t>Assessment</a:t>
            </a:r>
            <a:r>
              <a:rPr lang="it-IT" sz="1100" b="0" dirty="0">
                <a:solidFill>
                  <a:srgbClr val="CCCCCC"/>
                </a:solidFill>
                <a:latin typeface="Montserrat"/>
              </a:rPr>
              <a:t> chiuso.</a:t>
            </a:r>
          </a:p>
          <a:p>
            <a:pPr algn="l"/>
            <a:r>
              <a:rPr lang="it-IT" sz="1100" dirty="0">
                <a:solidFill>
                  <a:srgbClr val="CCCCCC"/>
                </a:solidFill>
                <a:latin typeface="Montserrat"/>
              </a:rPr>
              <a:t>Si condividerà l’intero pacchetto di documentazione e il piano delle attività rivisto.</a:t>
            </a:r>
          </a:p>
          <a:p>
            <a:pPr algn="l"/>
            <a:r>
              <a:rPr lang="it-IT" sz="1100" dirty="0">
                <a:solidFill>
                  <a:srgbClr val="CCCCCC"/>
                </a:solidFill>
                <a:latin typeface="Montserrat"/>
              </a:rPr>
              <a:t>Si può procedere con la preparazione dell’offerta.</a:t>
            </a:r>
            <a:endParaRPr sz="1100" b="0" dirty="0">
              <a:solidFill>
                <a:srgbClr val="CCCCCC"/>
              </a:solidFill>
              <a:latin typeface="Montserrat"/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12D6EC1F-0D7A-4230-B243-DEE735DA216D}"/>
              </a:ext>
            </a:extLst>
          </p:cNvPr>
          <p:cNvSpPr/>
          <p:nvPr/>
        </p:nvSpPr>
        <p:spPr>
          <a:xfrm>
            <a:off x="457200" y="2606283"/>
            <a:ext cx="1723292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FED346DE-D228-427B-AF93-8DC153740169}"/>
              </a:ext>
            </a:extLst>
          </p:cNvPr>
          <p:cNvSpPr txBox="1"/>
          <p:nvPr/>
        </p:nvSpPr>
        <p:spPr>
          <a:xfrm>
            <a:off x="457200" y="2917784"/>
            <a:ext cx="172329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STEERING</a:t>
            </a: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42FE42C7-BFC9-4FAF-B96D-55EA35E7C62A}"/>
              </a:ext>
            </a:extLst>
          </p:cNvPr>
          <p:cNvSpPr/>
          <p:nvPr/>
        </p:nvSpPr>
        <p:spPr>
          <a:xfrm>
            <a:off x="2266462" y="2606283"/>
            <a:ext cx="946833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D0CE62AB-5260-406A-857F-64A867F2E69C}"/>
              </a:ext>
            </a:extLst>
          </p:cNvPr>
          <p:cNvSpPr txBox="1"/>
          <p:nvPr/>
        </p:nvSpPr>
        <p:spPr>
          <a:xfrm>
            <a:off x="2391508" y="2840840"/>
            <a:ext cx="914329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Introdotto un meeting mensile di steering per fare il punto sull’avanzamento del progetto</a:t>
            </a:r>
          </a:p>
        </p:txBody>
      </p:sp>
      <p:sp>
        <p:nvSpPr>
          <p:cNvPr id="34" name="Rectangle 18">
            <a:extLst>
              <a:ext uri="{FF2B5EF4-FFF2-40B4-BE49-F238E27FC236}">
                <a16:creationId xmlns:a16="http://schemas.microsoft.com/office/drawing/2014/main" id="{939409D2-D427-49B3-8FA0-6F89FAE41C4C}"/>
              </a:ext>
            </a:extLst>
          </p:cNvPr>
          <p:cNvSpPr/>
          <p:nvPr/>
        </p:nvSpPr>
        <p:spPr>
          <a:xfrm>
            <a:off x="457200" y="1584593"/>
            <a:ext cx="1723292" cy="900000"/>
          </a:xfrm>
          <a:prstGeom prst="rect">
            <a:avLst/>
          </a:prstGeom>
          <a:solidFill>
            <a:srgbClr val="F8EA1B"/>
          </a:solidFill>
          <a:ln w="19050">
            <a:solidFill>
              <a:srgbClr val="F8EA1B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AF4BBE67-2B49-4C9A-ACB0-4A10668FD9C1}"/>
              </a:ext>
            </a:extLst>
          </p:cNvPr>
          <p:cNvSpPr txBox="1"/>
          <p:nvPr/>
        </p:nvSpPr>
        <p:spPr>
          <a:xfrm>
            <a:off x="457200" y="1896094"/>
            <a:ext cx="172329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222222"/>
                </a:solidFill>
                <a:latin typeface="Montserrat"/>
              </a:rPr>
              <a:t>STRATEGY</a:t>
            </a:r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45E0BA3C-93F4-4AA5-9D4F-242BAC6F9CEE}"/>
              </a:ext>
            </a:extLst>
          </p:cNvPr>
          <p:cNvSpPr/>
          <p:nvPr/>
        </p:nvSpPr>
        <p:spPr>
          <a:xfrm>
            <a:off x="2266462" y="1584593"/>
            <a:ext cx="9468338" cy="9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A5741FA3-F44A-4BC1-8FDC-9013A33F1E54}"/>
              </a:ext>
            </a:extLst>
          </p:cNvPr>
          <p:cNvSpPr txBox="1"/>
          <p:nvPr/>
        </p:nvSpPr>
        <p:spPr>
          <a:xfrm>
            <a:off x="2391508" y="1819150"/>
            <a:ext cx="9143292" cy="43088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it-IT" sz="1100" b="0" dirty="0">
                <a:solidFill>
                  <a:srgbClr val="CCCCCC"/>
                </a:solidFill>
                <a:latin typeface="Montserrat"/>
              </a:rPr>
              <a:t>Si è deciso di escludere dal progetto le attività su Strategy</a:t>
            </a:r>
            <a:r>
              <a:rPr lang="it-IT" sz="1100" dirty="0">
                <a:solidFill>
                  <a:srgbClr val="CCCCCC"/>
                </a:solidFill>
                <a:latin typeface="Montserrat"/>
              </a:rPr>
              <a:t> (Strategy out of scope del progetto)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  <a:p>
            <a:pPr algn="l"/>
            <a:r>
              <a:rPr lang="it-IT" sz="1100" dirty="0">
                <a:solidFill>
                  <a:srgbClr val="CCCCCC"/>
                </a:solidFill>
                <a:latin typeface="Montserrat"/>
              </a:rPr>
              <a:t>Se necessarie sarà effettuata una offerta specifica.</a:t>
            </a:r>
            <a:endParaRPr lang="it-IT" sz="1100" b="0" dirty="0">
              <a:solidFill>
                <a:srgbClr val="CCCCCC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81669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p30"/>
          <p:cNvSpPr txBox="1">
            <a:spLocks noGrp="1"/>
          </p:cNvSpPr>
          <p:nvPr>
            <p:ph type="title"/>
          </p:nvPr>
        </p:nvSpPr>
        <p:spPr>
          <a:xfrm>
            <a:off x="731447" y="2276788"/>
            <a:ext cx="62133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45713" tIns="22850" rIns="45713" bIns="22850" rtlCol="0" anchor="t" anchorCtr="0">
            <a:no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Thank you!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3340" name="Google Shape;3340;p30"/>
          <p:cNvSpPr txBox="1">
            <a:spLocks noGrp="1"/>
          </p:cNvSpPr>
          <p:nvPr>
            <p:ph type="body" idx="1"/>
          </p:nvPr>
        </p:nvSpPr>
        <p:spPr>
          <a:xfrm>
            <a:off x="731447" y="5970063"/>
            <a:ext cx="1456950" cy="6034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45713" tIns="45713" rIns="45713" bIns="45713" rtlCol="0" anchor="t" anchorCtr="0">
            <a:noAutofit/>
          </a:bodyPr>
          <a:lstStyle/>
          <a:p>
            <a:pPr marL="0" indent="0">
              <a:lnSpc>
                <a:spcPct val="115000"/>
              </a:lnSpc>
              <a:buSzPts val="1000"/>
            </a:pPr>
            <a:r>
              <a:rPr lang="es-ES">
                <a:solidFill>
                  <a:schemeClr val="lt1"/>
                </a:solidFill>
              </a:rPr>
              <a:t>Via dei Valtorta 47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15000"/>
              </a:lnSpc>
              <a:buSzPts val="1000"/>
            </a:pPr>
            <a:r>
              <a:rPr lang="es-ES">
                <a:solidFill>
                  <a:schemeClr val="lt1"/>
                </a:solidFill>
              </a:rPr>
              <a:t>20127 Milano (MI), Italy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75E-6 -1.48148E-6 L 0.11602 -1.48148E-6 C 0.16797 -1.48148E-6 0.23217 0.06898 0.23217 0.125 L 0.23217 0.2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02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9" grpId="0"/>
    </p:bldLst>
  </p:timing>
</p:sld>
</file>

<file path=ppt/theme/theme1.xml><?xml version="1.0" encoding="utf-8"?>
<a:theme xmlns:a="http://schemas.openxmlformats.org/drawingml/2006/main" name="Tema di Office">
  <a:themeElements>
    <a:clrScheme name="Template COV">
      <a:dk1>
        <a:srgbClr val="1B1B1B"/>
      </a:dk1>
      <a:lt1>
        <a:srgbClr val="EBEBEB"/>
      </a:lt1>
      <a:dk2>
        <a:srgbClr val="1B1B1B"/>
      </a:dk2>
      <a:lt2>
        <a:srgbClr val="EBEBEB"/>
      </a:lt2>
      <a:accent1>
        <a:srgbClr val="37A1DE"/>
      </a:accent1>
      <a:accent2>
        <a:srgbClr val="FFC000"/>
      </a:accent2>
      <a:accent3>
        <a:srgbClr val="FE413B"/>
      </a:accent3>
      <a:accent4>
        <a:srgbClr val="1B1B1B"/>
      </a:accent4>
      <a:accent5>
        <a:srgbClr val="EBEBEB"/>
      </a:accent5>
      <a:accent6>
        <a:srgbClr val="FE413B"/>
      </a:accent6>
      <a:hlink>
        <a:srgbClr val="FFC000"/>
      </a:hlink>
      <a:folHlink>
        <a:srgbClr val="37A1DE"/>
      </a:folHlink>
    </a:clrScheme>
    <a:fontScheme name="Template COV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7507E9B3E0F44CADFE8DD73434D58A" ma:contentTypeVersion="12" ma:contentTypeDescription="Creare un nuovo documento." ma:contentTypeScope="" ma:versionID="9c77f0ad7629e9db3afcf3d4cd011bc1">
  <xsd:schema xmlns:xsd="http://www.w3.org/2001/XMLSchema" xmlns:xs="http://www.w3.org/2001/XMLSchema" xmlns:p="http://schemas.microsoft.com/office/2006/metadata/properties" xmlns:ns2="f29f18fe-ee6d-415e-87f1-01a62a04a228" xmlns:ns3="6f2f90c9-ce19-4ba6-8768-67ee426e4f32" targetNamespace="http://schemas.microsoft.com/office/2006/metadata/properties" ma:root="true" ma:fieldsID="b7f232976a20f85ff8197fa95a6ed40f" ns2:_="" ns3:_="">
    <xsd:import namespace="f29f18fe-ee6d-415e-87f1-01a62a04a228"/>
    <xsd:import namespace="6f2f90c9-ce19-4ba6-8768-67ee426e4f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9f18fe-ee6d-415e-87f1-01a62a04a2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49e4d9fb-c291-4cd4-8b0e-20b821803e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f90c9-ce19-4ba6-8768-67ee426e4f3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4d9e2d4-1a61-4b0e-a0b3-5aba1ff2f786}" ma:internalName="TaxCatchAll" ma:showField="CatchAllData" ma:web="6f2f90c9-ce19-4ba6-8768-67ee426e4f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9f18fe-ee6d-415e-87f1-01a62a04a228">
      <Terms xmlns="http://schemas.microsoft.com/office/infopath/2007/PartnerControls"/>
    </lcf76f155ced4ddcb4097134ff3c332f>
    <TaxCatchAll xmlns="6f2f90c9-ce19-4ba6-8768-67ee426e4f32" xsi:nil="true"/>
  </documentManagement>
</p:properties>
</file>

<file path=customXml/itemProps1.xml><?xml version="1.0" encoding="utf-8"?>
<ds:datastoreItem xmlns:ds="http://schemas.openxmlformats.org/officeDocument/2006/customXml" ds:itemID="{3C6DD0B2-2352-407D-9CBF-3638152913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6665C4-4914-4C6F-874D-DFE858D4CC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9f18fe-ee6d-415e-87f1-01a62a04a228"/>
    <ds:schemaRef ds:uri="6f2f90c9-ce19-4ba6-8768-67ee426e4f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6B8A65-E51D-4B69-BC39-BF491BA1400B}">
  <ds:schemaRefs>
    <ds:schemaRef ds:uri="http://purl.org/dc/elements/1.1/"/>
    <ds:schemaRef ds:uri="6f2f90c9-ce19-4ba6-8768-67ee426e4f32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f29f18fe-ee6d-415e-87f1-01a62a04a228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8976</TotalTime>
  <Words>2756</Words>
  <Application>Microsoft Office PowerPoint</Application>
  <PresentationFormat>Widescreen</PresentationFormat>
  <Paragraphs>514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8" baseType="lpstr">
      <vt:lpstr>Arial</vt:lpstr>
      <vt:lpstr>Calibri</vt:lpstr>
      <vt:lpstr>Montserrat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Vincenzo Morello</dc:creator>
  <cp:lastModifiedBy>Francesco Foconi</cp:lastModifiedBy>
  <cp:revision>272</cp:revision>
  <dcterms:created xsi:type="dcterms:W3CDTF">2024-12-23T11:27:15Z</dcterms:created>
  <dcterms:modified xsi:type="dcterms:W3CDTF">2026-05-28T09:44:43Z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0x010100FC7507E9B3E0F44CADFE8DD73434D58A</vt:lpwstr>
  </property>
  <property fmtid="{D5CDD505-2E9C-101B-9397-08002B2CF9AE}" pid="3" name="MediaServiceImageTags">
    <vt:lpwstr/>
  </property>
</Properties>
</file>