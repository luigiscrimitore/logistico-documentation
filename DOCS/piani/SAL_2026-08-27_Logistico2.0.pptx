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0"/>
  </p:notesMasterIdLst>
  <p:sldIdLst>
    <p:sldId id="389" r:id="rId2"/>
    <p:sldId id="257" r:id="rId3"/>
    <p:sldId id="388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A3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4687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g22970fc8383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1" name="Google Shape;1101;g22970fc8383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g22970fc8383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1" name="Google Shape;1101;g22970fc8383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482044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716429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350523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482327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93037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094506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9787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81518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61836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27174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16653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02954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EMPTY_DARK">
  <p:cSld name="3_EMPTY_DARK">
    <p:bg>
      <p:bgPr>
        <a:solidFill>
          <a:schemeClr val="dk1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50"/>
          <p:cNvSpPr txBox="1"/>
          <p:nvPr/>
        </p:nvSpPr>
        <p:spPr>
          <a:xfrm>
            <a:off x="11212266" y="6437395"/>
            <a:ext cx="248716" cy="287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5774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s-ES" sz="9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pPr marL="25774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t>‹N›</a:t>
            </a:fld>
            <a:endParaRPr sz="9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7" name="Google Shape;347;p50"/>
          <p:cNvSpPr txBox="1">
            <a:spLocks noGrp="1"/>
          </p:cNvSpPr>
          <p:nvPr>
            <p:ph type="body" idx="1"/>
          </p:nvPr>
        </p:nvSpPr>
        <p:spPr>
          <a:xfrm>
            <a:off x="1497547" y="6465725"/>
            <a:ext cx="1873022" cy="24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457200" marR="0" lvl="1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685800" marR="0" lvl="2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914400" marR="0" lvl="3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1143000" marR="0" lvl="4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1371600" marR="0" lvl="5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1600200" marR="0" lvl="6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1828800" marR="0" lvl="7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2057400" marR="0" lvl="8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48" name="Google Shape;348;p50"/>
          <p:cNvSpPr txBox="1"/>
          <p:nvPr/>
        </p:nvSpPr>
        <p:spPr>
          <a:xfrm>
            <a:off x="1429493" y="6465725"/>
            <a:ext cx="124808" cy="230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9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</a:t>
            </a:r>
            <a:endParaRPr sz="9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49" name="Google Shape;349;p50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 b="26524"/>
          <a:stretch/>
        </p:blipFill>
        <p:spPr>
          <a:xfrm>
            <a:off x="737335" y="6503552"/>
            <a:ext cx="692157" cy="1552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217555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">
  <p:cSld name="1_COVER">
    <p:bg>
      <p:bgPr>
        <a:solidFill>
          <a:schemeClr val="dk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1" y="226"/>
            <a:ext cx="12191995" cy="6857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" name="Google Shape;10;p2"/>
          <p:cNvGrpSpPr/>
          <p:nvPr/>
        </p:nvGrpSpPr>
        <p:grpSpPr>
          <a:xfrm>
            <a:off x="698145" y="4757577"/>
            <a:ext cx="363036" cy="88659"/>
            <a:chOff x="1404456" y="4691075"/>
            <a:chExt cx="879497" cy="214800"/>
          </a:xfrm>
        </p:grpSpPr>
        <p:sp>
          <p:nvSpPr>
            <p:cNvPr id="11" name="Google Shape;11;p2"/>
            <p:cNvSpPr/>
            <p:nvPr/>
          </p:nvSpPr>
          <p:spPr>
            <a:xfrm flipH="1">
              <a:off x="2069153" y="4691075"/>
              <a:ext cx="214800" cy="214800"/>
            </a:xfrm>
            <a:prstGeom prst="ellipse">
              <a:avLst/>
            </a:prstGeom>
            <a:solidFill>
              <a:srgbClr val="FE413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900" b="0" i="0" u="none" strike="noStrike" cap="none">
                <a:solidFill>
                  <a:srgbClr val="EBEBE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1736805" y="4691075"/>
              <a:ext cx="214800" cy="214800"/>
            </a:xfrm>
            <a:prstGeom prst="ellipse">
              <a:avLst/>
            </a:prstGeom>
            <a:solidFill>
              <a:srgbClr val="FFD1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900" b="0" i="0" u="none" strike="noStrike" cap="none">
                <a:solidFill>
                  <a:srgbClr val="EBEBE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 flipH="1">
              <a:off x="1404456" y="4691075"/>
              <a:ext cx="214800" cy="214800"/>
            </a:xfrm>
            <a:prstGeom prst="ellipse">
              <a:avLst/>
            </a:prstGeom>
            <a:solidFill>
              <a:srgbClr val="37A1DE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900" b="0" i="0" u="none" strike="noStrike" cap="none">
                <a:solidFill>
                  <a:srgbClr val="EBEBE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2925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4406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302;p1">
            <a:extLst>
              <a:ext uri="{FF2B5EF4-FFF2-40B4-BE49-F238E27FC236}">
                <a16:creationId xmlns:a16="http://schemas.microsoft.com/office/drawing/2014/main" id="{D3B62E98-DECC-4BCA-AE33-478014BE59B5}"/>
              </a:ext>
            </a:extLst>
          </p:cNvPr>
          <p:cNvSpPr txBox="1"/>
          <p:nvPr/>
        </p:nvSpPr>
        <p:spPr>
          <a:xfrm>
            <a:off x="522684" y="2790819"/>
            <a:ext cx="8590053" cy="139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>
              <a:buSzPts val="8800"/>
            </a:pPr>
            <a:r>
              <a:rPr lang="it-IT" sz="3600" dirty="0">
                <a:solidFill>
                  <a:srgbClr val="E8A33D"/>
                </a:solidFill>
                <a:latin typeface="Montserrat"/>
                <a:ea typeface="Montserrat"/>
                <a:cs typeface="Montserrat"/>
                <a:sym typeface="Montserrat"/>
              </a:rPr>
              <a:t>DWH Logistico 2.0</a:t>
            </a:r>
            <a:endParaRPr sz="3600" dirty="0">
              <a:solidFill>
                <a:srgbClr val="E8A33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4" name="Google Shape;1104;p123"/>
          <p:cNvSpPr txBox="1"/>
          <p:nvPr/>
        </p:nvSpPr>
        <p:spPr>
          <a:xfrm>
            <a:off x="646872" y="4460169"/>
            <a:ext cx="3121350" cy="2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s-ES" sz="1500" b="1" dirty="0">
                <a:solidFill>
                  <a:srgbClr val="EBEBEB"/>
                </a:solidFill>
                <a:latin typeface="Montserrat"/>
                <a:ea typeface="Montserrat"/>
                <a:cs typeface="Montserrat"/>
                <a:sym typeface="Montserrat"/>
              </a:rPr>
              <a:t>Pistoia, 28 agosto 2026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05914FE-F1C7-4F4C-8C59-2D88249B3C08}"/>
              </a:ext>
            </a:extLst>
          </p:cNvPr>
          <p:cNvSpPr txBox="1"/>
          <p:nvPr/>
        </p:nvSpPr>
        <p:spPr>
          <a:xfrm>
            <a:off x="522684" y="361562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r>
              <a:rPr lang="en-US" sz="18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Avanzamento</a:t>
            </a:r>
            <a:r>
              <a:rPr lang="en-US" sz="18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Lavori</a:t>
            </a:r>
            <a:endParaRPr lang="it-IT" dirty="0">
              <a:solidFill>
                <a:srgbClr val="E8A33D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365760"/>
            <a:ext cx="10500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di </a:t>
            </a:r>
            <a:r>
              <a:rPr lang="en-US" sz="2600" b="1" dirty="0" err="1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approccio</a:t>
            </a: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local vs Cloud</a:t>
            </a:r>
            <a:endParaRPr lang="en-US" sz="2600" dirty="0">
              <a:solidFill>
                <a:srgbClr val="E8A33D"/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"Sviluppato in locale" non significa "in produzione". </a:t>
            </a:r>
          </a:p>
          <a:p>
            <a:pPr marL="0" indent="0">
              <a:buNone/>
            </a:pPr>
            <a:r>
              <a:rPr lang="en-US" sz="1400" i="1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L'avanzamento</a:t>
            </a:r>
            <a:r>
              <a:rPr lang="en-US" sz="1400" i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 letto su due tracce.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3383280"/>
          </a:xfrm>
          <a:prstGeom prst="roundRect">
            <a:avLst>
              <a:gd name="adj" fmla="val 2703"/>
            </a:avLst>
          </a:prstGeom>
          <a:solidFill>
            <a:srgbClr val="14212A"/>
          </a:solidFill>
          <a:ln w="12700">
            <a:solidFill>
              <a:srgbClr val="2C3A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5C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TRACCIA A — BUILD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28600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pipeline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880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</a:t>
            </a: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completo in locale.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Avviati</a:t>
            </a: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 </a:t>
            </a:r>
            <a:r>
              <a:rPr lang="en-US" sz="13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semantici</a:t>
            </a: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delle</a:t>
            </a: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Wave (PREP_SPED e CARICHI)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2900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Dimensioni + 5 wave A–E + aggregatiUltimo run locale: Bronze/Silver/Gold verdiOrphan-rate 0,0%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3383280"/>
          </a:xfrm>
          <a:prstGeom prst="roundRect">
            <a:avLst>
              <a:gd name="adj" fmla="val 2703"/>
            </a:avLst>
          </a:prstGeom>
          <a:solidFill>
            <a:srgbClr val="14212A"/>
          </a:solidFill>
          <a:ln w="12700">
            <a:solidFill>
              <a:srgbClr val="2C3A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TRACCIA B — CLOUD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228600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 &amp; go-live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880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3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avvio</a:t>
            </a: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</a:t>
            </a: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opera </a:t>
            </a:r>
            <a:r>
              <a:rPr lang="en-US" sz="13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</a:t>
            </a: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infrastruttura</a:t>
            </a: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Pipeline in Cloud </a:t>
            </a:r>
            <a:r>
              <a:rPr lang="en-US" sz="13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300" dirty="0">
              <a:solidFill>
                <a:srgbClr val="9FB0B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e </a:t>
            </a:r>
            <a:r>
              <a:rPr lang="en-US" sz="13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certificazione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42900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 su dati reali </a:t>
            </a:r>
            <a:r>
              <a:rPr lang="en-US" sz="1300" dirty="0" err="1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</a:t>
            </a:r>
            <a:r>
              <a:rPr lang="en-US" sz="13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</a:t>
            </a:r>
          </a:p>
          <a:p>
            <a:pPr marL="0" indent="0">
              <a:buNone/>
            </a:pPr>
            <a:r>
              <a:rPr lang="en-US" sz="1300" dirty="0" err="1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Quadratura</a:t>
            </a:r>
            <a:r>
              <a:rPr lang="en-US" sz="13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numerica vs Oracle</a:t>
            </a:r>
          </a:p>
          <a:p>
            <a:pPr marL="0" indent="0">
              <a:buNone/>
            </a:pPr>
            <a:r>
              <a:rPr lang="en-US" sz="1300" dirty="0" err="1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</a:t>
            </a:r>
            <a:r>
              <a:rPr lang="en-US" sz="13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business + performanceShadow mode + cut-over (PROD)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L'avanzamento</a:t>
            </a:r>
            <a:r>
              <a:rPr lang="en-US" sz="1300" b="1" dirty="0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complessivo</a:t>
            </a:r>
            <a:r>
              <a:rPr lang="en-US" sz="1300" b="1" dirty="0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è: 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z="1300" b="1" dirty="0" err="1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Completato</a:t>
            </a:r>
            <a:r>
              <a:rPr lang="en-US" sz="1300" b="1" dirty="0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 build in locale. 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z="1300" b="1" dirty="0" err="1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</a:t>
            </a:r>
            <a:r>
              <a:rPr lang="en-US" sz="1300" b="1" dirty="0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cloud/go-live è in </a:t>
            </a:r>
            <a:r>
              <a:rPr lang="en-US" sz="1300" b="1" dirty="0" err="1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</a:t>
            </a:r>
            <a:r>
              <a:rPr lang="en-US" sz="1300" b="1" dirty="0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300" b="1" dirty="0" err="1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avvio</a:t>
            </a:r>
            <a:r>
              <a:rPr lang="en-US" sz="1300" b="1" dirty="0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Segnaposto testo 18">
            <a:extLst>
              <a:ext uri="{FF2B5EF4-FFF2-40B4-BE49-F238E27FC236}">
                <a16:creationId xmlns:a16="http://schemas.microsoft.com/office/drawing/2014/main" id="{76A75CA4-49AF-41D5-A9E3-CF52C207E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97547" y="6465725"/>
            <a:ext cx="3777838" cy="244350"/>
          </a:xfrm>
        </p:spPr>
        <p:txBody>
          <a:bodyPr/>
          <a:lstStyle/>
          <a:p>
            <a:r>
              <a:rPr lang="en-US" sz="1000" dirty="0" err="1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Logistico</a:t>
            </a:r>
            <a:r>
              <a:rPr lang="en-US" sz="10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2.0 · CNO Data Platform · SAL 27-08-2026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CNO Logistico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0" dirty="0">
                <a:solidFill>
                  <a:srgbClr val="E8A33D"/>
                </a:solidFill>
                <a:latin typeface="Montserrat"/>
              </a:rPr>
              <a:t>Logistico 2 - </a:t>
            </a:r>
            <a:r>
              <a:rPr sz="2800" b="0" dirty="0">
                <a:solidFill>
                  <a:srgbClr val="E8A33D"/>
                </a:solidFill>
                <a:latin typeface="Montserrat"/>
              </a:rPr>
              <a:t>Piano di Progetto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37200" y="1411598"/>
            <a:ext cx="9597600" cy="64800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81599"/>
            <a:ext cx="1600000" cy="330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00"/>
          </a:p>
        </p:txBody>
      </p:sp>
      <p:sp>
        <p:nvSpPr>
          <p:cNvPr id="7" name="TextBox 6"/>
          <p:cNvSpPr txBox="1"/>
          <p:nvPr/>
        </p:nvSpPr>
        <p:spPr>
          <a:xfrm>
            <a:off x="537200" y="1081599"/>
            <a:ext cx="160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8EA1B"/>
                </a:solidFill>
                <a:latin typeface="Montserrat"/>
              </a:rPr>
              <a:t>WAVE / AREA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37200" y="2127889"/>
            <a:ext cx="9597600" cy="648000"/>
          </a:xfrm>
          <a:prstGeom prst="rect">
            <a:avLst/>
          </a:prstGeom>
          <a:solidFill>
            <a:srgbClr val="22222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37200" y="1081599"/>
            <a:ext cx="9597600" cy="330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00"/>
          </a:p>
        </p:txBody>
      </p:sp>
      <p:sp>
        <p:nvSpPr>
          <p:cNvPr id="9" name="TextBox 8"/>
          <p:cNvSpPr txBox="1"/>
          <p:nvPr/>
        </p:nvSpPr>
        <p:spPr>
          <a:xfrm>
            <a:off x="2137200" y="1081599"/>
            <a:ext cx="87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FFFFFF"/>
                </a:solidFill>
                <a:latin typeface="Montserrat"/>
              </a:rPr>
              <a:t>GIU 2</a:t>
            </a:r>
            <a:r>
              <a:rPr lang="it-IT" sz="1000" b="0" dirty="0">
                <a:solidFill>
                  <a:srgbClr val="FFFFFF"/>
                </a:solidFill>
                <a:latin typeface="Montserrat"/>
              </a:rPr>
              <a:t>6</a:t>
            </a:r>
            <a:endParaRPr sz="1000" b="0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09709" y="1081599"/>
            <a:ext cx="87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FFFFFF"/>
                </a:solidFill>
                <a:latin typeface="Montserrat"/>
              </a:rPr>
              <a:t>LUG 2</a:t>
            </a:r>
            <a:r>
              <a:rPr lang="it-IT" sz="1000" b="0" dirty="0">
                <a:solidFill>
                  <a:srgbClr val="FFFFFF"/>
                </a:solidFill>
                <a:latin typeface="Montserrat"/>
              </a:rPr>
              <a:t>6</a:t>
            </a:r>
            <a:endParaRPr sz="1000" b="0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137200" y="2828552"/>
            <a:ext cx="9597600" cy="64800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82218" y="1081599"/>
            <a:ext cx="87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FFFFFF"/>
                </a:solidFill>
                <a:latin typeface="Montserrat"/>
              </a:rPr>
              <a:t>AGO </a:t>
            </a:r>
            <a:r>
              <a:rPr lang="it-IT" sz="1000" b="0" dirty="0">
                <a:solidFill>
                  <a:srgbClr val="FFFFFF"/>
                </a:solidFill>
                <a:latin typeface="Montserrat"/>
              </a:rPr>
              <a:t>26</a:t>
            </a:r>
            <a:endParaRPr sz="1000" b="0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727" y="1081599"/>
            <a:ext cx="87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FFFFFF"/>
                </a:solidFill>
                <a:latin typeface="Montserrat"/>
              </a:rPr>
              <a:t>SET 2</a:t>
            </a:r>
            <a:r>
              <a:rPr lang="it-IT" sz="1000" b="0" dirty="0">
                <a:solidFill>
                  <a:srgbClr val="FFFFFF"/>
                </a:solidFill>
                <a:latin typeface="Montserrat"/>
              </a:rPr>
              <a:t>6</a:t>
            </a:r>
            <a:endParaRPr sz="1000" b="0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27236" y="1081599"/>
            <a:ext cx="87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FFFFFF"/>
                </a:solidFill>
                <a:latin typeface="Montserrat"/>
              </a:rPr>
              <a:t>OTT </a:t>
            </a:r>
            <a:r>
              <a:rPr lang="it-IT" sz="1000" b="0" dirty="0">
                <a:solidFill>
                  <a:srgbClr val="FFFFFF"/>
                </a:solidFill>
                <a:latin typeface="Montserrat"/>
              </a:rPr>
              <a:t>26</a:t>
            </a:r>
            <a:endParaRPr sz="1000" b="0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137200" y="3537030"/>
            <a:ext cx="9597600" cy="648000"/>
          </a:xfrm>
          <a:prstGeom prst="rect">
            <a:avLst/>
          </a:prstGeom>
          <a:solidFill>
            <a:srgbClr val="22222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9745" y="1081599"/>
            <a:ext cx="87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FFFFFF"/>
                </a:solidFill>
                <a:latin typeface="Montserrat"/>
              </a:rPr>
              <a:t>NOV 2</a:t>
            </a:r>
            <a:r>
              <a:rPr lang="it-IT" sz="1000" b="0" dirty="0">
                <a:solidFill>
                  <a:srgbClr val="FFFFFF"/>
                </a:solidFill>
                <a:latin typeface="Montserrat"/>
              </a:rPr>
              <a:t>6</a:t>
            </a:r>
            <a:endParaRPr sz="1000" b="0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372254" y="1081599"/>
            <a:ext cx="87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FFFFFF"/>
                </a:solidFill>
                <a:latin typeface="Montserrat"/>
              </a:rPr>
              <a:t>DIC 2</a:t>
            </a:r>
            <a:r>
              <a:rPr lang="it-IT" sz="1000" b="0" dirty="0">
                <a:solidFill>
                  <a:srgbClr val="FFFFFF"/>
                </a:solidFill>
                <a:latin typeface="Montserrat"/>
              </a:rPr>
              <a:t>6</a:t>
            </a:r>
            <a:endParaRPr sz="1000" b="0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44763" y="1081599"/>
            <a:ext cx="87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FFFFFF"/>
                </a:solidFill>
                <a:latin typeface="Montserrat"/>
              </a:rPr>
              <a:t>GEN 2</a:t>
            </a:r>
            <a:r>
              <a:rPr lang="it-IT" sz="1000" b="0" dirty="0">
                <a:solidFill>
                  <a:srgbClr val="FFFFFF"/>
                </a:solidFill>
                <a:latin typeface="Montserrat"/>
              </a:rPr>
              <a:t>7</a:t>
            </a:r>
            <a:endParaRPr sz="1000" b="0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137200" y="4229870"/>
            <a:ext cx="9597600" cy="64800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17272" y="1081599"/>
            <a:ext cx="87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FFFFFF"/>
                </a:solidFill>
                <a:latin typeface="Montserrat"/>
              </a:rPr>
              <a:t>FEB 2</a:t>
            </a:r>
            <a:r>
              <a:rPr lang="it-IT" sz="1000" b="0" dirty="0">
                <a:solidFill>
                  <a:srgbClr val="FFFFFF"/>
                </a:solidFill>
                <a:latin typeface="Montserrat"/>
              </a:rPr>
              <a:t>7</a:t>
            </a:r>
            <a:endParaRPr sz="1000" b="0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989781" y="1081599"/>
            <a:ext cx="87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FFFFFF"/>
                </a:solidFill>
                <a:latin typeface="Montserrat"/>
              </a:rPr>
              <a:t>MAR 2</a:t>
            </a:r>
            <a:r>
              <a:rPr lang="it-IT" sz="1000" b="0" dirty="0">
                <a:solidFill>
                  <a:srgbClr val="FFFFFF"/>
                </a:solidFill>
                <a:latin typeface="Montserrat"/>
              </a:rPr>
              <a:t>7</a:t>
            </a:r>
            <a:endParaRPr sz="1000" b="0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862290" y="1081599"/>
            <a:ext cx="87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FFFFFF"/>
                </a:solidFill>
                <a:latin typeface="Montserrat"/>
              </a:rPr>
              <a:t>APR 2</a:t>
            </a:r>
            <a:r>
              <a:rPr lang="it-IT" sz="1000" b="0" dirty="0">
                <a:solidFill>
                  <a:srgbClr val="FFFFFF"/>
                </a:solidFill>
                <a:latin typeface="Montserrat"/>
              </a:rPr>
              <a:t>7</a:t>
            </a:r>
            <a:endParaRPr sz="1000" b="0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137200" y="4922718"/>
            <a:ext cx="9597600" cy="648000"/>
          </a:xfrm>
          <a:prstGeom prst="rect">
            <a:avLst/>
          </a:prstGeom>
          <a:solidFill>
            <a:srgbClr val="22222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1411598"/>
            <a:ext cx="1600000" cy="64800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21">
            <a:extLst>
              <a:ext uri="{FF2B5EF4-FFF2-40B4-BE49-F238E27FC236}">
                <a16:creationId xmlns:a16="http://schemas.microsoft.com/office/drawing/2014/main" id="{6B7333B8-4FFD-44C6-BC4A-DE6CC788BB7C}"/>
              </a:ext>
            </a:extLst>
          </p:cNvPr>
          <p:cNvSpPr/>
          <p:nvPr/>
        </p:nvSpPr>
        <p:spPr>
          <a:xfrm rot="5400000">
            <a:off x="2213034" y="3383621"/>
            <a:ext cx="4158000" cy="216000"/>
          </a:xfrm>
          <a:prstGeom prst="rect">
            <a:avLst/>
          </a:prstGeom>
          <a:solidFill>
            <a:schemeClr val="bg1">
              <a:lumMod val="95000"/>
              <a:lumOff val="5000"/>
            </a:schemeClr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7200" y="1597099"/>
            <a:ext cx="15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F8EA1B"/>
                </a:solidFill>
                <a:latin typeface="Montserrat"/>
              </a:rPr>
              <a:t>0 </a:t>
            </a:r>
            <a:r>
              <a:rPr lang="it-IT" sz="1200" b="0" dirty="0">
                <a:solidFill>
                  <a:srgbClr val="F8EA1B"/>
                </a:solidFill>
                <a:latin typeface="Montserrat"/>
              </a:rPr>
              <a:t>–</a:t>
            </a:r>
            <a:r>
              <a:rPr sz="1200" b="0" dirty="0">
                <a:solidFill>
                  <a:srgbClr val="F8EA1B"/>
                </a:solidFill>
                <a:latin typeface="Montserrat"/>
              </a:rPr>
              <a:t> Setup</a:t>
            </a:r>
            <a:endParaRPr lang="it-IT" sz="1200" b="0" dirty="0">
              <a:solidFill>
                <a:srgbClr val="F8EA1B"/>
              </a:solidFill>
              <a:latin typeface="Montserrat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57200" y="2127889"/>
            <a:ext cx="1600000" cy="648000"/>
          </a:xfrm>
          <a:prstGeom prst="rect">
            <a:avLst/>
          </a:prstGeom>
          <a:solidFill>
            <a:srgbClr val="22222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7200" y="2313390"/>
            <a:ext cx="15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7ECFC5"/>
                </a:solidFill>
                <a:latin typeface="Montserrat"/>
              </a:rPr>
              <a:t>1 - Master Data</a:t>
            </a:r>
            <a:endParaRPr lang="it-IT" sz="1200" b="0" dirty="0">
              <a:solidFill>
                <a:srgbClr val="7ECFC5"/>
              </a:solidFill>
              <a:latin typeface="Montserrat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457200" y="2828553"/>
            <a:ext cx="1600000" cy="647999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7200" y="3016614"/>
            <a:ext cx="15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E84855"/>
                </a:solidFill>
                <a:latin typeface="Montserrat"/>
              </a:rPr>
              <a:t>2 </a:t>
            </a:r>
            <a:r>
              <a:rPr lang="it-IT" sz="1200" b="0" dirty="0">
                <a:solidFill>
                  <a:srgbClr val="E84855"/>
                </a:solidFill>
                <a:latin typeface="Montserrat"/>
              </a:rPr>
              <a:t>–</a:t>
            </a:r>
            <a:r>
              <a:rPr sz="1200" b="0" dirty="0">
                <a:solidFill>
                  <a:srgbClr val="E84855"/>
                </a:solidFill>
                <a:latin typeface="Montserrat"/>
              </a:rPr>
              <a:t> </a:t>
            </a:r>
            <a:r>
              <a:rPr sz="1200" b="0" dirty="0" err="1">
                <a:solidFill>
                  <a:srgbClr val="E84855"/>
                </a:solidFill>
                <a:latin typeface="Montserrat"/>
              </a:rPr>
              <a:t>Spedizioni</a:t>
            </a:r>
            <a:endParaRPr lang="it-IT" sz="1200" b="0" dirty="0">
              <a:solidFill>
                <a:srgbClr val="E84855"/>
              </a:solidFill>
              <a:latin typeface="Montserrat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57200" y="3537030"/>
            <a:ext cx="1600000" cy="648000"/>
          </a:xfrm>
          <a:prstGeom prst="rect">
            <a:avLst/>
          </a:prstGeom>
          <a:solidFill>
            <a:srgbClr val="22222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7200" y="3735916"/>
            <a:ext cx="15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BB273"/>
                </a:solidFill>
                <a:latin typeface="Montserrat"/>
              </a:rPr>
              <a:t>3 - </a:t>
            </a:r>
            <a:r>
              <a:rPr sz="1200" b="0" dirty="0" err="1">
                <a:solidFill>
                  <a:srgbClr val="3BB273"/>
                </a:solidFill>
                <a:latin typeface="Montserrat"/>
              </a:rPr>
              <a:t>Giacenze</a:t>
            </a:r>
            <a:endParaRPr sz="1200" b="0" dirty="0">
              <a:solidFill>
                <a:srgbClr val="3BB273"/>
              </a:solidFill>
              <a:latin typeface="Montserrat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57200" y="4229870"/>
            <a:ext cx="1600000" cy="64800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7200" y="4428756"/>
            <a:ext cx="15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06CD5"/>
                </a:solidFill>
                <a:latin typeface="Montserrat"/>
              </a:rPr>
              <a:t>4 - Carichi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922718"/>
            <a:ext cx="1600000" cy="648000"/>
          </a:xfrm>
          <a:prstGeom prst="rect">
            <a:avLst/>
          </a:prstGeom>
          <a:solidFill>
            <a:srgbClr val="22222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37200" y="5121604"/>
            <a:ext cx="15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C8A400"/>
                </a:solidFill>
                <a:latin typeface="Montserrat"/>
              </a:rPr>
              <a:t>5 - </a:t>
            </a:r>
            <a:r>
              <a:rPr sz="1200" b="0" dirty="0" err="1">
                <a:solidFill>
                  <a:srgbClr val="C8A400"/>
                </a:solidFill>
                <a:latin typeface="Montserrat"/>
              </a:rPr>
              <a:t>Trasporti</a:t>
            </a:r>
            <a:endParaRPr sz="1200" b="0" dirty="0">
              <a:solidFill>
                <a:srgbClr val="C8A400"/>
              </a:solidFill>
              <a:latin typeface="Montserrat"/>
            </a:endParaRPr>
          </a:p>
        </p:txBody>
      </p:sp>
      <p:sp>
        <p:nvSpPr>
          <p:cNvPr id="45" name="Rectangle 21">
            <a:extLst>
              <a:ext uri="{FF2B5EF4-FFF2-40B4-BE49-F238E27FC236}">
                <a16:creationId xmlns:a16="http://schemas.microsoft.com/office/drawing/2014/main" id="{81D0F615-7B0E-4F74-904C-5E292FFDCC57}"/>
              </a:ext>
            </a:extLst>
          </p:cNvPr>
          <p:cNvSpPr/>
          <p:nvPr/>
        </p:nvSpPr>
        <p:spPr>
          <a:xfrm rot="5400000">
            <a:off x="6171255" y="3418647"/>
            <a:ext cx="4158000" cy="144000"/>
          </a:xfrm>
          <a:prstGeom prst="rect">
            <a:avLst/>
          </a:prstGeom>
          <a:solidFill>
            <a:schemeClr val="bg1">
              <a:lumMod val="95000"/>
              <a:lumOff val="5000"/>
            </a:schemeClr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152199" y="1477994"/>
            <a:ext cx="1224047" cy="360000"/>
          </a:xfrm>
          <a:prstGeom prst="homePlate">
            <a:avLst/>
          </a:prstGeom>
          <a:solidFill>
            <a:srgbClr val="F8EA1B"/>
          </a:solidFill>
          <a:ln>
            <a:noFill/>
          </a:ln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27" name="Rectangle 26"/>
          <p:cNvSpPr/>
          <p:nvPr/>
        </p:nvSpPr>
        <p:spPr>
          <a:xfrm>
            <a:off x="3028155" y="2194285"/>
            <a:ext cx="1726572" cy="360000"/>
          </a:xfrm>
          <a:prstGeom prst="homePlate">
            <a:avLst/>
          </a:prstGeom>
          <a:solidFill>
            <a:srgbClr val="7ECFC5"/>
          </a:solidFill>
          <a:ln>
            <a:noFill/>
          </a:ln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404429" y="2884124"/>
            <a:ext cx="2569096" cy="360000"/>
          </a:xfrm>
          <a:prstGeom prst="homePlate">
            <a:avLst/>
          </a:prstGeom>
          <a:solidFill>
            <a:srgbClr val="E84855"/>
          </a:solidFill>
          <a:ln>
            <a:noFill/>
          </a:ln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99448" y="3597843"/>
            <a:ext cx="2082223" cy="360000"/>
          </a:xfrm>
          <a:prstGeom prst="homePlate">
            <a:avLst/>
          </a:prstGeom>
          <a:solidFill>
            <a:srgbClr val="3BB273"/>
          </a:solidFill>
          <a:ln>
            <a:noFill/>
          </a:ln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811016" y="4290683"/>
            <a:ext cx="2185966" cy="360000"/>
          </a:xfrm>
          <a:prstGeom prst="homePlate">
            <a:avLst/>
          </a:prstGeom>
          <a:solidFill>
            <a:srgbClr val="A06CD5"/>
          </a:solidFill>
          <a:ln>
            <a:noFill/>
          </a:ln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9553847" y="4983531"/>
            <a:ext cx="1747199" cy="360000"/>
          </a:xfrm>
          <a:prstGeom prst="homePlate">
            <a:avLst/>
          </a:prstGeom>
          <a:solidFill>
            <a:srgbClr val="C8A400"/>
          </a:solidFill>
          <a:ln>
            <a:noFill/>
          </a:ln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ectangle 22">
            <a:extLst>
              <a:ext uri="{FF2B5EF4-FFF2-40B4-BE49-F238E27FC236}">
                <a16:creationId xmlns:a16="http://schemas.microsoft.com/office/drawing/2014/main" id="{95BCEF72-85CD-418A-9CEB-EDA8BAE9B5D8}"/>
              </a:ext>
            </a:extLst>
          </p:cNvPr>
          <p:cNvSpPr/>
          <p:nvPr/>
        </p:nvSpPr>
        <p:spPr>
          <a:xfrm>
            <a:off x="2396594" y="1898311"/>
            <a:ext cx="2844000" cy="144000"/>
          </a:xfrm>
          <a:prstGeom prst="homePlat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00" dirty="0"/>
          </a:p>
        </p:txBody>
      </p:sp>
      <p:sp>
        <p:nvSpPr>
          <p:cNvPr id="47" name="Rectangle 26">
            <a:extLst>
              <a:ext uri="{FF2B5EF4-FFF2-40B4-BE49-F238E27FC236}">
                <a16:creationId xmlns:a16="http://schemas.microsoft.com/office/drawing/2014/main" id="{DCFFFFC3-85E3-4EAF-809D-7415C35955BD}"/>
              </a:ext>
            </a:extLst>
          </p:cNvPr>
          <p:cNvSpPr/>
          <p:nvPr/>
        </p:nvSpPr>
        <p:spPr>
          <a:xfrm>
            <a:off x="2427855" y="2590389"/>
            <a:ext cx="1080000" cy="144000"/>
          </a:xfrm>
          <a:prstGeom prst="homePlate">
            <a:avLst/>
          </a:prstGeom>
          <a:solidFill>
            <a:srgbClr val="92D050"/>
          </a:soli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Rectangle 30">
            <a:extLst>
              <a:ext uri="{FF2B5EF4-FFF2-40B4-BE49-F238E27FC236}">
                <a16:creationId xmlns:a16="http://schemas.microsoft.com/office/drawing/2014/main" id="{58044DF7-1B24-433E-B147-F458BCD2B116}"/>
              </a:ext>
            </a:extLst>
          </p:cNvPr>
          <p:cNvSpPr/>
          <p:nvPr/>
        </p:nvSpPr>
        <p:spPr>
          <a:xfrm>
            <a:off x="2573454" y="3298167"/>
            <a:ext cx="1440000" cy="144000"/>
          </a:xfrm>
          <a:prstGeom prst="homePlate">
            <a:avLst/>
          </a:prstGeom>
          <a:solidFill>
            <a:srgbClr val="92D050"/>
          </a:soli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Rectangle 34">
            <a:extLst>
              <a:ext uri="{FF2B5EF4-FFF2-40B4-BE49-F238E27FC236}">
                <a16:creationId xmlns:a16="http://schemas.microsoft.com/office/drawing/2014/main" id="{21D3E7BD-AB25-4A6E-949E-DE11AE6F4AAB}"/>
              </a:ext>
            </a:extLst>
          </p:cNvPr>
          <p:cNvSpPr/>
          <p:nvPr/>
        </p:nvSpPr>
        <p:spPr>
          <a:xfrm>
            <a:off x="3026310" y="3998140"/>
            <a:ext cx="900000" cy="144000"/>
          </a:xfrm>
          <a:prstGeom prst="homePlate">
            <a:avLst/>
          </a:prstGeom>
          <a:solidFill>
            <a:srgbClr val="92D050"/>
          </a:soli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Rectangle 38">
            <a:extLst>
              <a:ext uri="{FF2B5EF4-FFF2-40B4-BE49-F238E27FC236}">
                <a16:creationId xmlns:a16="http://schemas.microsoft.com/office/drawing/2014/main" id="{98C3EC7F-3E0C-4B40-9D68-9ECCA1B9C32A}"/>
              </a:ext>
            </a:extLst>
          </p:cNvPr>
          <p:cNvSpPr/>
          <p:nvPr/>
        </p:nvSpPr>
        <p:spPr>
          <a:xfrm>
            <a:off x="2742154" y="4690050"/>
            <a:ext cx="1440000" cy="144000"/>
          </a:xfrm>
          <a:prstGeom prst="homePlate">
            <a:avLst/>
          </a:prstGeom>
          <a:solidFill>
            <a:srgbClr val="92D050"/>
          </a:soli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Rectangle 42">
            <a:extLst>
              <a:ext uri="{FF2B5EF4-FFF2-40B4-BE49-F238E27FC236}">
                <a16:creationId xmlns:a16="http://schemas.microsoft.com/office/drawing/2014/main" id="{6258AAB8-C1F6-4A4F-9397-88BF89BFA863}"/>
              </a:ext>
            </a:extLst>
          </p:cNvPr>
          <p:cNvSpPr/>
          <p:nvPr/>
        </p:nvSpPr>
        <p:spPr>
          <a:xfrm>
            <a:off x="3376246" y="5386688"/>
            <a:ext cx="720000" cy="144000"/>
          </a:xfrm>
          <a:prstGeom prst="homePlate">
            <a:avLst/>
          </a:prstGeom>
          <a:solidFill>
            <a:srgbClr val="92D050"/>
          </a:soli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Rectangle 26">
            <a:extLst>
              <a:ext uri="{FF2B5EF4-FFF2-40B4-BE49-F238E27FC236}">
                <a16:creationId xmlns:a16="http://schemas.microsoft.com/office/drawing/2014/main" id="{8C8F9DD0-DAC3-4CA4-A5B0-A5B0007448BA}"/>
              </a:ext>
            </a:extLst>
          </p:cNvPr>
          <p:cNvSpPr/>
          <p:nvPr/>
        </p:nvSpPr>
        <p:spPr>
          <a:xfrm>
            <a:off x="5089849" y="2584937"/>
            <a:ext cx="1080000" cy="144000"/>
          </a:xfrm>
          <a:prstGeom prst="homePlat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ectangle 30">
            <a:extLst>
              <a:ext uri="{FF2B5EF4-FFF2-40B4-BE49-F238E27FC236}">
                <a16:creationId xmlns:a16="http://schemas.microsoft.com/office/drawing/2014/main" id="{C8C14D68-B346-4CD7-BEE8-30038BE26350}"/>
              </a:ext>
            </a:extLst>
          </p:cNvPr>
          <p:cNvSpPr/>
          <p:nvPr/>
        </p:nvSpPr>
        <p:spPr>
          <a:xfrm>
            <a:off x="5245106" y="3294828"/>
            <a:ext cx="1800000" cy="144000"/>
          </a:xfrm>
          <a:prstGeom prst="homePlat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Rectangle 34">
            <a:extLst>
              <a:ext uri="{FF2B5EF4-FFF2-40B4-BE49-F238E27FC236}">
                <a16:creationId xmlns:a16="http://schemas.microsoft.com/office/drawing/2014/main" id="{014CAE0E-0A11-4F49-B75A-9A19BD2EE22B}"/>
              </a:ext>
            </a:extLst>
          </p:cNvPr>
          <p:cNvSpPr/>
          <p:nvPr/>
        </p:nvSpPr>
        <p:spPr>
          <a:xfrm>
            <a:off x="7961017" y="4002753"/>
            <a:ext cx="1440000" cy="144000"/>
          </a:xfrm>
          <a:prstGeom prst="homePlat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Rectangle 38">
            <a:extLst>
              <a:ext uri="{FF2B5EF4-FFF2-40B4-BE49-F238E27FC236}">
                <a16:creationId xmlns:a16="http://schemas.microsoft.com/office/drawing/2014/main" id="{675F2D6C-99DC-499D-A111-B48B921490DF}"/>
              </a:ext>
            </a:extLst>
          </p:cNvPr>
          <p:cNvSpPr/>
          <p:nvPr/>
        </p:nvSpPr>
        <p:spPr>
          <a:xfrm>
            <a:off x="6360943" y="4681127"/>
            <a:ext cx="1800000" cy="144000"/>
          </a:xfrm>
          <a:prstGeom prst="homePlat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Rectangle 42">
            <a:extLst>
              <a:ext uri="{FF2B5EF4-FFF2-40B4-BE49-F238E27FC236}">
                <a16:creationId xmlns:a16="http://schemas.microsoft.com/office/drawing/2014/main" id="{462982FC-6156-42DA-97D2-2902CA5FB3E2}"/>
              </a:ext>
            </a:extLst>
          </p:cNvPr>
          <p:cNvSpPr/>
          <p:nvPr/>
        </p:nvSpPr>
        <p:spPr>
          <a:xfrm>
            <a:off x="9110596" y="5402153"/>
            <a:ext cx="2160000" cy="144000"/>
          </a:xfrm>
          <a:prstGeom prst="homePlat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363884"/>
            <a:ext cx="10500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per wave</a:t>
            </a:r>
            <a:endParaRPr lang="en-US" sz="2600" dirty="0">
              <a:solidFill>
                <a:srgbClr val="E8A33D"/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3383280" y="1353312"/>
            <a:ext cx="917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301033" y="1353312"/>
            <a:ext cx="917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218786" y="1353312"/>
            <a:ext cx="917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136538" y="1353312"/>
            <a:ext cx="917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054291" y="1353312"/>
            <a:ext cx="917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972044" y="1353312"/>
            <a:ext cx="917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889797" y="1353312"/>
            <a:ext cx="917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807550" y="1353312"/>
            <a:ext cx="917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725302" y="1353312"/>
            <a:ext cx="917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71907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· Fondamenta (infra)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19856" y="174650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7609" y="174650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55362" y="174650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27C88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3114" y="174650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0867" y="174650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08620" y="174650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26373" y="174650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44126" y="174650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61878" y="174650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39" y="2094523"/>
            <a:ext cx="2796345" cy="35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Master Data / DIM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37609" y="214884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73114" y="214884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90867" y="214884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08620" y="214884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26373" y="214884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44126" y="214884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761878" y="214884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5237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Carichi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3114" y="255117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90867" y="255117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08620" y="255117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926373" y="255117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844126" y="255117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761878" y="255117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29260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Giacenze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173114" y="295351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090867" y="295351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08620" y="295351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926373" y="295351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844126" y="295351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761878" y="295351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32841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Prep. Spedizioni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173114" y="3355848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90867" y="3355848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008620" y="3355848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926373" y="3355848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844126" y="3355848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761878" y="3355848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37307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Trasporti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173114" y="375818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90867" y="375818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008620" y="375818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926373" y="375818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844126" y="375818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761878" y="375818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13308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Tracciab. &amp; Carrell.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6173114" y="416052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090867" y="416052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008620" y="416052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926373" y="416052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844126" y="416052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761878" y="416052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548640" y="4535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Aggregati / Report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3419856" y="456285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337609" y="456285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255362" y="456285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173114" y="456285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090867" y="456285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008620" y="456285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926373" y="456285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844126" y="456285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761878" y="456285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548640" y="4937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Shadow &amp; Cut-over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3419856" y="496519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337609" y="496519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255362" y="496519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73114" y="496519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90867" y="496519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8620" y="496519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26333B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926373" y="496519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26333B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844126" y="496519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0761878" y="496519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48640" y="5449824"/>
            <a:ext cx="256032" cy="182880"/>
          </a:xfrm>
          <a:prstGeom prst="roundRect">
            <a:avLst>
              <a:gd name="adj" fmla="val 15000"/>
            </a:avLst>
          </a:prstGeom>
          <a:solidFill>
            <a:srgbClr val="0E5A63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59536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(locale)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3429000" y="5449824"/>
            <a:ext cx="256032" cy="182880"/>
          </a:xfrm>
          <a:prstGeom prst="roundRect">
            <a:avLst>
              <a:gd name="adj" fmla="val 15000"/>
            </a:avLst>
          </a:prstGeom>
          <a:solidFill>
            <a:srgbClr val="127C88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3739896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esecuzione DEV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309360" y="5449824"/>
            <a:ext cx="256032" cy="182880"/>
          </a:xfrm>
          <a:prstGeom prst="roundRect">
            <a:avLst>
              <a:gd name="adj" fmla="val 15000"/>
            </a:avLst>
          </a:prstGeom>
          <a:solidFill>
            <a:srgbClr val="E8A33D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6620256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 cloud / go-live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9189720" y="5449824"/>
            <a:ext cx="256032" cy="182880"/>
          </a:xfrm>
          <a:prstGeom prst="roundRect">
            <a:avLst>
              <a:gd name="adj" fmla="val 15000"/>
            </a:avLst>
          </a:prstGeom>
          <a:solidFill>
            <a:srgbClr val="26333B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9500616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Propedeutico (PROD)</a:t>
            </a:r>
            <a:endParaRPr lang="en-US" sz="1000" dirty="0"/>
          </a:p>
        </p:txBody>
      </p:sp>
      <p:sp>
        <p:nvSpPr>
          <p:cNvPr id="112" name="Text 110"/>
          <p:cNvSpPr txBox="1"/>
          <p:nvPr/>
        </p:nvSpPr>
        <p:spPr>
          <a:xfrm>
            <a:off x="548640" y="57698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di completamento condiviso: fine febbraio 2027 (con parallelizzazione delle validazioni).</a:t>
            </a:r>
            <a:endParaRPr lang="en-US" sz="1100" dirty="0"/>
          </a:p>
        </p:txBody>
      </p:sp>
      <p:sp>
        <p:nvSpPr>
          <p:cNvPr id="113" name="Text 111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Logistico 2.0 · CNO Data Platform · SAL 27-08-2026</a:t>
            </a:r>
            <a:endParaRPr lang="en-US" sz="900" dirty="0"/>
          </a:p>
        </p:txBody>
      </p:sp>
      <p:sp>
        <p:nvSpPr>
          <p:cNvPr id="114" name="Shape 35">
            <a:extLst>
              <a:ext uri="{FF2B5EF4-FFF2-40B4-BE49-F238E27FC236}">
                <a16:creationId xmlns:a16="http://schemas.microsoft.com/office/drawing/2014/main" id="{C72703C7-699E-472D-B935-608D4B37C682}"/>
              </a:ext>
            </a:extLst>
          </p:cNvPr>
          <p:cNvSpPr/>
          <p:nvPr/>
        </p:nvSpPr>
        <p:spPr>
          <a:xfrm>
            <a:off x="4346752" y="2552817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15" name="Shape 45">
            <a:extLst>
              <a:ext uri="{FF2B5EF4-FFF2-40B4-BE49-F238E27FC236}">
                <a16:creationId xmlns:a16="http://schemas.microsoft.com/office/drawing/2014/main" id="{29546ADC-C035-48AB-9218-A1694D7AE6A9}"/>
              </a:ext>
            </a:extLst>
          </p:cNvPr>
          <p:cNvSpPr/>
          <p:nvPr/>
        </p:nvSpPr>
        <p:spPr>
          <a:xfrm>
            <a:off x="4337608" y="295226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16" name="Shape 55">
            <a:extLst>
              <a:ext uri="{FF2B5EF4-FFF2-40B4-BE49-F238E27FC236}">
                <a16:creationId xmlns:a16="http://schemas.microsoft.com/office/drawing/2014/main" id="{EEFD9255-E396-4A2E-93E0-606BB1DDBB24}"/>
              </a:ext>
            </a:extLst>
          </p:cNvPr>
          <p:cNvSpPr/>
          <p:nvPr/>
        </p:nvSpPr>
        <p:spPr>
          <a:xfrm>
            <a:off x="4337608" y="3354598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18" name="Shape 75">
            <a:extLst>
              <a:ext uri="{FF2B5EF4-FFF2-40B4-BE49-F238E27FC236}">
                <a16:creationId xmlns:a16="http://schemas.microsoft.com/office/drawing/2014/main" id="{A151E844-E28B-43ED-88C1-CFC0ABB8E604}"/>
              </a:ext>
            </a:extLst>
          </p:cNvPr>
          <p:cNvSpPr/>
          <p:nvPr/>
        </p:nvSpPr>
        <p:spPr>
          <a:xfrm>
            <a:off x="4337608" y="415927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35" name="Shape 25">
            <a:extLst>
              <a:ext uri="{FF2B5EF4-FFF2-40B4-BE49-F238E27FC236}">
                <a16:creationId xmlns:a16="http://schemas.microsoft.com/office/drawing/2014/main" id="{E97693EB-6D9F-466D-B017-81819B7A7C91}"/>
              </a:ext>
            </a:extLst>
          </p:cNvPr>
          <p:cNvSpPr/>
          <p:nvPr/>
        </p:nvSpPr>
        <p:spPr>
          <a:xfrm>
            <a:off x="3419855" y="215798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36" name="Shape 35">
            <a:extLst>
              <a:ext uri="{FF2B5EF4-FFF2-40B4-BE49-F238E27FC236}">
                <a16:creationId xmlns:a16="http://schemas.microsoft.com/office/drawing/2014/main" id="{A63B1C58-27D0-4123-AF8F-79865880E031}"/>
              </a:ext>
            </a:extLst>
          </p:cNvPr>
          <p:cNvSpPr/>
          <p:nvPr/>
        </p:nvSpPr>
        <p:spPr>
          <a:xfrm>
            <a:off x="3419855" y="256032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37" name="Shape 45">
            <a:extLst>
              <a:ext uri="{FF2B5EF4-FFF2-40B4-BE49-F238E27FC236}">
                <a16:creationId xmlns:a16="http://schemas.microsoft.com/office/drawing/2014/main" id="{1DC8B494-ECE5-4BF5-98F5-C709322DA5D7}"/>
              </a:ext>
            </a:extLst>
          </p:cNvPr>
          <p:cNvSpPr/>
          <p:nvPr/>
        </p:nvSpPr>
        <p:spPr>
          <a:xfrm>
            <a:off x="3419855" y="296265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38" name="Shape 55">
            <a:extLst>
              <a:ext uri="{FF2B5EF4-FFF2-40B4-BE49-F238E27FC236}">
                <a16:creationId xmlns:a16="http://schemas.microsoft.com/office/drawing/2014/main" id="{85353069-4924-4E2A-A919-CD021421E9E4}"/>
              </a:ext>
            </a:extLst>
          </p:cNvPr>
          <p:cNvSpPr/>
          <p:nvPr/>
        </p:nvSpPr>
        <p:spPr>
          <a:xfrm>
            <a:off x="3419855" y="336499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39" name="Shape 65">
            <a:extLst>
              <a:ext uri="{FF2B5EF4-FFF2-40B4-BE49-F238E27FC236}">
                <a16:creationId xmlns:a16="http://schemas.microsoft.com/office/drawing/2014/main" id="{113FA6E4-D55E-4A95-934B-963133A3BEB6}"/>
              </a:ext>
            </a:extLst>
          </p:cNvPr>
          <p:cNvSpPr/>
          <p:nvPr/>
        </p:nvSpPr>
        <p:spPr>
          <a:xfrm>
            <a:off x="4343738" y="378241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40" name="Shape 75">
            <a:extLst>
              <a:ext uri="{FF2B5EF4-FFF2-40B4-BE49-F238E27FC236}">
                <a16:creationId xmlns:a16="http://schemas.microsoft.com/office/drawing/2014/main" id="{5D63BCAD-2124-4AE7-96BA-5E628ED2DBDA}"/>
              </a:ext>
            </a:extLst>
          </p:cNvPr>
          <p:cNvSpPr/>
          <p:nvPr/>
        </p:nvSpPr>
        <p:spPr>
          <a:xfrm>
            <a:off x="3419855" y="416966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0E5A63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41" name="Shape 23">
            <a:extLst>
              <a:ext uri="{FF2B5EF4-FFF2-40B4-BE49-F238E27FC236}">
                <a16:creationId xmlns:a16="http://schemas.microsoft.com/office/drawing/2014/main" id="{D1CE1346-210A-4003-A741-AF62539F35A2}"/>
              </a:ext>
            </a:extLst>
          </p:cNvPr>
          <p:cNvSpPr/>
          <p:nvPr/>
        </p:nvSpPr>
        <p:spPr>
          <a:xfrm>
            <a:off x="5251399" y="2168808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42" name="Shape 33">
            <a:extLst>
              <a:ext uri="{FF2B5EF4-FFF2-40B4-BE49-F238E27FC236}">
                <a16:creationId xmlns:a16="http://schemas.microsoft.com/office/drawing/2014/main" id="{0ED6DEE0-7EFA-4010-95AF-D09ED2BA0A07}"/>
              </a:ext>
            </a:extLst>
          </p:cNvPr>
          <p:cNvSpPr/>
          <p:nvPr/>
        </p:nvSpPr>
        <p:spPr>
          <a:xfrm>
            <a:off x="5251399" y="2571144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43" name="Shape 43">
            <a:extLst>
              <a:ext uri="{FF2B5EF4-FFF2-40B4-BE49-F238E27FC236}">
                <a16:creationId xmlns:a16="http://schemas.microsoft.com/office/drawing/2014/main" id="{2600D47D-F518-4D5E-BB0C-D52B04D910D8}"/>
              </a:ext>
            </a:extLst>
          </p:cNvPr>
          <p:cNvSpPr/>
          <p:nvPr/>
        </p:nvSpPr>
        <p:spPr>
          <a:xfrm>
            <a:off x="5251399" y="297348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44" name="Shape 53">
            <a:extLst>
              <a:ext uri="{FF2B5EF4-FFF2-40B4-BE49-F238E27FC236}">
                <a16:creationId xmlns:a16="http://schemas.microsoft.com/office/drawing/2014/main" id="{B01B7B12-FE2A-4D9B-98EC-51A057B1837B}"/>
              </a:ext>
            </a:extLst>
          </p:cNvPr>
          <p:cNvSpPr/>
          <p:nvPr/>
        </p:nvSpPr>
        <p:spPr>
          <a:xfrm>
            <a:off x="5251399" y="3375816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45" name="Shape 63">
            <a:extLst>
              <a:ext uri="{FF2B5EF4-FFF2-40B4-BE49-F238E27FC236}">
                <a16:creationId xmlns:a16="http://schemas.microsoft.com/office/drawing/2014/main" id="{53D46181-6F5E-4CD0-A158-3BFB3615ABB8}"/>
              </a:ext>
            </a:extLst>
          </p:cNvPr>
          <p:cNvSpPr/>
          <p:nvPr/>
        </p:nvSpPr>
        <p:spPr>
          <a:xfrm>
            <a:off x="5251399" y="3778152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46" name="Shape 73">
            <a:extLst>
              <a:ext uri="{FF2B5EF4-FFF2-40B4-BE49-F238E27FC236}">
                <a16:creationId xmlns:a16="http://schemas.microsoft.com/office/drawing/2014/main" id="{31D2E00B-584D-4508-8885-76B0C575B519}"/>
              </a:ext>
            </a:extLst>
          </p:cNvPr>
          <p:cNvSpPr/>
          <p:nvPr/>
        </p:nvSpPr>
        <p:spPr>
          <a:xfrm>
            <a:off x="5251399" y="4180488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  <p:sp>
        <p:nvSpPr>
          <p:cNvPr id="147" name="Shape 63">
            <a:extLst>
              <a:ext uri="{FF2B5EF4-FFF2-40B4-BE49-F238E27FC236}">
                <a16:creationId xmlns:a16="http://schemas.microsoft.com/office/drawing/2014/main" id="{6FB03A6A-8132-4B16-ACEE-C7EED0726FC6}"/>
              </a:ext>
            </a:extLst>
          </p:cNvPr>
          <p:cNvSpPr/>
          <p:nvPr/>
        </p:nvSpPr>
        <p:spPr>
          <a:xfrm>
            <a:off x="3419856" y="3771080"/>
            <a:ext cx="844601" cy="274320"/>
          </a:xfrm>
          <a:prstGeom prst="roundRect">
            <a:avLst>
              <a:gd name="adj" fmla="val 10000"/>
            </a:avLst>
          </a:prstGeom>
          <a:solidFill>
            <a:srgbClr val="14212A"/>
          </a:solidFill>
          <a:ln w="12700">
            <a:solidFill>
              <a:srgbClr val="26333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365760"/>
            <a:ext cx="10500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per fase</a:t>
            </a:r>
            <a:endParaRPr lang="en-US" sz="2600" dirty="0">
              <a:solidFill>
                <a:srgbClr val="E8A33D"/>
              </a:solidFill>
            </a:endParaRPr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046287"/>
              </p:ext>
            </p:extLst>
          </p:nvPr>
        </p:nvGraphicFramePr>
        <p:xfrm>
          <a:off x="548640" y="1280160"/>
          <a:ext cx="10908792" cy="402336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50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A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Sviluppo (locale)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A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Validazione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A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aperto principale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Fondamenta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corso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9FB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DEV: plan ✅ / apply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UC alla MI (OP-INF-1)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Master Data / DIM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5C4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9FB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avviare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Retail (OP-02)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Carichi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5C4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9FB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avviare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quadratura + BA (cloud)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Giacenze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5C4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9FB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avviare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valorizzato (ST-01/02)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Prep. Spedizioni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5C4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9FB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avviare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quadratura + edge-case (cloud)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Trasporti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 err="1">
                          <a:solidFill>
                            <a:srgbClr val="45C4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9FB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avviare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listini corrieri assenti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Tracc. &amp; Carrellisti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 err="1">
                          <a:solidFill>
                            <a:srgbClr val="45C4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9FB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avviare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CE178 su dati reali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Aggregati / Report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5C4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9FB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avviare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Warehouse + MicroStrategy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· Shadow &amp; Cut-over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</a:t>
                      </a:r>
                      <a:r>
                        <a:rPr lang="en-US" sz="1100" dirty="0" err="1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bozza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9FB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bloccato su 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provisioning 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Logistico 2.0 · CNO Data Platform · SAL 27-08-2026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365760"/>
            <a:ext cx="10500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Cloud: GitLab CI/CD &amp; certificazione</a:t>
            </a:r>
            <a:endParaRPr lang="en-US" sz="2600" dirty="0">
              <a:solidFill>
                <a:srgbClr val="E8A33D"/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Multi-repo su GitLab cliente (CI in DEV, auth Managed Identity — nessun segreto)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55622"/>
              </p:ext>
            </p:extLst>
          </p:nvPr>
        </p:nvGraphicFramePr>
        <p:xfrm>
          <a:off x="548641" y="1600200"/>
          <a:ext cx="10604426" cy="3246120"/>
        </p:xfrm>
        <a:graphic>
          <a:graphicData uri="http://schemas.openxmlformats.org/drawingml/2006/table">
            <a:tbl>
              <a:tblPr/>
              <a:tblGrid>
                <a:gridCol w="1505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7845">
                  <a:extLst>
                    <a:ext uri="{9D8B030D-6E8A-4147-A177-3AD203B41FA5}">
                      <a16:colId xmlns:a16="http://schemas.microsoft.com/office/drawing/2014/main" val="119657705"/>
                    </a:ext>
                  </a:extLst>
                </a:gridCol>
                <a:gridCol w="13213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A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kern="1200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Descrizione</a:t>
                      </a:r>
                      <a:endParaRPr lang="en-US" sz="1200" b="1" kern="1200" dirty="0">
                        <a:solidFill>
                          <a:srgbClr val="FFFFFF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A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su GitLab (DEV)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logistico-lib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Libreria</a:t>
                      </a: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 </a:t>
                      </a: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condivisa</a:t>
                      </a: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 </a:t>
                      </a: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logistica_utils</a:t>
                      </a: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it-IT" sz="1100" b="1" dirty="0"/>
                        <a:t>delta</a:t>
                      </a:r>
                      <a:r>
                        <a:rPr lang="it-IT" sz="1100" dirty="0"/>
                        <a:t> — scritture Delta idempotenti (MERGE </a:t>
                      </a:r>
                      <a:r>
                        <a:rPr lang="it-IT" sz="1100" dirty="0" err="1"/>
                        <a:t>upsert</a:t>
                      </a:r>
                      <a:r>
                        <a:rPr lang="it-IT" sz="1100" dirty="0"/>
                        <a:t>, </a:t>
                      </a:r>
                      <a:r>
                        <a:rPr lang="it-IT" sz="1100" dirty="0" err="1"/>
                        <a:t>replace-where</a:t>
                      </a:r>
                      <a:r>
                        <a:rPr lang="it-IT" sz="1100" dirty="0"/>
                        <a:t>) + watermark incrementale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it-IT" sz="1100" b="1" dirty="0" err="1"/>
                        <a:t>dq</a:t>
                      </a:r>
                      <a:r>
                        <a:rPr lang="it-IT" sz="1100" b="1" dirty="0"/>
                        <a:t> / </a:t>
                      </a:r>
                      <a:r>
                        <a:rPr lang="it-IT" sz="1100" b="1" dirty="0" err="1"/>
                        <a:t>dq_monitor</a:t>
                      </a:r>
                      <a:r>
                        <a:rPr lang="it-IT" sz="1100" dirty="0"/>
                        <a:t> — check qualità (</a:t>
                      </a:r>
                      <a:r>
                        <a:rPr lang="it-IT" sz="1100" dirty="0" err="1"/>
                        <a:t>null</a:t>
                      </a:r>
                      <a:r>
                        <a:rPr lang="it-IT" sz="1100" dirty="0"/>
                        <a:t>, duplicati, conteggi) con report e </a:t>
                      </a:r>
                      <a:r>
                        <a:rPr lang="it-IT" sz="1100" dirty="0" err="1"/>
                        <a:t>alerting</a:t>
                      </a:r>
                      <a:r>
                        <a:rPr lang="it-IT" sz="1100" dirty="0"/>
                        <a:t> bloccante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it-IT" sz="1100" b="1" dirty="0" err="1"/>
                        <a:t>utils</a:t>
                      </a:r>
                      <a:r>
                        <a:rPr lang="it-IT" sz="1100" dirty="0"/>
                        <a:t> — trasformazioni di dominio (date legacy, articoli, siti), metadati/</a:t>
                      </a:r>
                      <a:r>
                        <a:rPr lang="it-IT" sz="1100" dirty="0" err="1"/>
                        <a:t>hash</a:t>
                      </a:r>
                      <a:r>
                        <a:rPr lang="it-IT" sz="1100" dirty="0"/>
                        <a:t> riga, </a:t>
                      </a:r>
                      <a:r>
                        <a:rPr lang="it-IT" sz="1100" dirty="0" err="1"/>
                        <a:t>ingestion</a:t>
                      </a:r>
                      <a:endParaRPr lang="it-IT" sz="1100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it-IT" sz="1100" b="1" dirty="0"/>
                        <a:t>storage</a:t>
                      </a:r>
                      <a:r>
                        <a:rPr lang="it-IT" sz="1100" dirty="0"/>
                        <a:t> — </a:t>
                      </a:r>
                      <a:r>
                        <a:rPr lang="it-IT" sz="1100" dirty="0" err="1"/>
                        <a:t>path</a:t>
                      </a:r>
                      <a:r>
                        <a:rPr lang="it-IT" sz="1100" dirty="0"/>
                        <a:t> astratti locale ↔ Databricks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it-IT" sz="1100" b="1" dirty="0"/>
                        <a:t>secret</a:t>
                      </a:r>
                      <a:r>
                        <a:rPr lang="it-IT" sz="1100" dirty="0"/>
                        <a:t> — credenziali e connessioni JDBC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it-IT" sz="1100" b="1" dirty="0" err="1"/>
                        <a:t>logging</a:t>
                      </a:r>
                      <a:r>
                        <a:rPr lang="it-IT" sz="1100" dirty="0"/>
                        <a:t> — log JSON strutturato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C4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wheel logistica_utils pubblicato nel Package Registry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logistico-workflows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Notebook Bronze/Silver/Gold + DAB: deploy </a:t>
                      </a: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dei</a:t>
                      </a: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 job Databricks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C4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deploy_dev verde → 7 job creati (sandbox, schedule in pausa)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logistico-infrastructure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it-IT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Terraform</a:t>
                      </a:r>
                      <a:r>
                        <a:rPr lang="it-IT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 per </a:t>
                      </a:r>
                      <a:r>
                        <a:rPr lang="it-IT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Unity</a:t>
                      </a:r>
                      <a:r>
                        <a:rPr lang="it-IT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 </a:t>
                      </a:r>
                      <a:r>
                        <a:rPr lang="it-IT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Catalog</a:t>
                      </a:r>
                      <a:r>
                        <a:rPr lang="it-IT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 (schemi + Volume di landing), </a:t>
                      </a:r>
                      <a:r>
                        <a:rPr lang="it-IT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auth</a:t>
                      </a:r>
                      <a:r>
                        <a:rPr lang="it-IT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 </a:t>
                      </a:r>
                      <a:r>
                        <a:rPr lang="it-IT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Managed</a:t>
                      </a:r>
                      <a:r>
                        <a:rPr lang="it-IT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 Identity.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plan verde (15 add, 0 destroy); apply in attesa grant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924044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Certificazione &amp; quadratura vs CDT_DW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39" y="512064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Certificazione strutturale: completata su F_CARICO e F_PREP_SPED; 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14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 tutti i 6 fact conclusa (scope confermato dove </a:t>
            </a:r>
            <a:r>
              <a:rPr lang="en-US" sz="1400" dirty="0" err="1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deliberato</a:t>
            </a:r>
            <a:r>
              <a:rPr lang="en-US" sz="14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Quadratura</a:t>
            </a:r>
            <a:r>
              <a:rPr lang="en-US" sz="1400" dirty="0">
                <a:solidFill>
                  <a:srgbClr val="E9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numerica dei dati: cloud-gated — significativa solo dopo initial load/backfill sul cloud (in locale la landing copre pochi giorni).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Logistico 2.0 · CNO Data Platform · SAL 27-08-2026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370215"/>
            <a:ext cx="10500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cosa siamo fermi</a:t>
            </a:r>
            <a:endParaRPr lang="en-US" sz="2600" dirty="0">
              <a:solidFill>
                <a:srgbClr val="E8A33D"/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Dipendenze esterne (cliente / piattaforma / sorgenti)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4227663"/>
              </p:ext>
            </p:extLst>
          </p:nvPr>
        </p:nvGraphicFramePr>
        <p:xfrm>
          <a:off x="548640" y="1554480"/>
          <a:ext cx="8549133" cy="3200400"/>
        </p:xfrm>
        <a:graphic>
          <a:graphicData uri="http://schemas.openxmlformats.org/drawingml/2006/table">
            <a:tbl>
              <a:tblPr/>
              <a:tblGrid>
                <a:gridCol w="20227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8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5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Cosa serve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5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5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OP-INF-1 · apply infra DEV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Unity Catalog (USE CATALOG + CREATE SCHEMA) alla Managed Identity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Reply / piattaforma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OP-21 · Data Quality framework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sull'approccio DQ trasversale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C73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CNO (bloccante)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OP-02 · Lookup Retail Master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nomi/percorsi anagrafiche condivise (arricchimento articolo/fornitore)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Reply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OP-08/10/11/31 · sorgenti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FULL/DELTA, filtro aree, carichi via SWAP, validazioni delta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Sistemi</a:t>
                      </a:r>
                      <a:r>
                        <a:rPr lang="en-US" sz="1100" dirty="0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sorgente</a:t>
                      </a:r>
                      <a:r>
                        <a:rPr lang="en-US" sz="1100" dirty="0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(Giulio)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Provisioning cloud DEV→PROD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workspace, landing, credenziali/accessi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Reply / </a:t>
                      </a:r>
                      <a:r>
                        <a:rPr lang="en-US" sz="1100" dirty="0" err="1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Piattaforma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Listini corrieri (Trasporti)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9EE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sorgente costi per valorizzare i noli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6A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/ sorgente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Logistico 2.0 · CNO Data Platform · SAL 27-08-2026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Prossimi passi</a:t>
            </a:r>
            <a:endParaRPr lang="en-US" sz="2600" dirty="0">
              <a:solidFill>
                <a:srgbClr val="E8A33D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1371599"/>
            <a:ext cx="8488289" cy="2700215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/>
        </p:spPr>
        <p:txBody>
          <a:bodyPr wrap="square" rtlCol="0" anchor="ctr"/>
          <a:lstStyle/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Unity Catalog alla MI → apply infra DEV (schemi + Volume di landing).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 dal Package Registry + primo run pipeline in DEV.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First-run wave su dati reali → backfill → quadratura numerica vs CDT_DW.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</a:t>
            </a:r>
            <a:r>
              <a:rPr lang="en-US" sz="1600" dirty="0">
                <a:solidFill>
                  <a:schemeClr val="bg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funzionale con il business (BA); 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MicroStrategy per gli </a:t>
            </a:r>
            <a:r>
              <a:rPr lang="en-US" sz="1600" dirty="0" err="1">
                <a:solidFill>
                  <a:schemeClr val="bg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</a:t>
            </a:r>
            <a:r>
              <a:rPr lang="en-US" sz="1600" dirty="0">
                <a:solidFill>
                  <a:schemeClr val="bg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mode &amp; cut-over (subordinati al provisioning PROD).</a:t>
            </a:r>
            <a:endParaRPr lang="en-US" sz="1600" dirty="0">
              <a:solidFill>
                <a:schemeClr val="bg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851095" y="4307447"/>
            <a:ext cx="8277274" cy="1989406"/>
          </a:xfrm>
          <a:prstGeom prst="roundRect">
            <a:avLst>
              <a:gd name="adj" fmla="val 4000"/>
            </a:avLst>
          </a:prstGeom>
          <a:solidFill>
            <a:schemeClr val="bg1">
              <a:lumMod val="85000"/>
              <a:lumOff val="15000"/>
            </a:schemeClr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373490"/>
            <a:ext cx="1781908" cy="457200"/>
          </a:xfrm>
          <a:prstGeom prst="flowChartDelay">
            <a:avLst/>
          </a:prstGeom>
          <a:solidFill>
            <a:schemeClr val="bg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Point 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846320"/>
            <a:ext cx="7393354" cy="132588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/>
        </p:spPr>
        <p:txBody>
          <a:bodyPr wrap="square" rtlCol="0" anchor="ctr"/>
          <a:lstStyle/>
          <a:p>
            <a:pPr marL="0" indent="0">
              <a:spcAft>
                <a:spcPts val="700"/>
              </a:spcAft>
              <a:buNone/>
            </a:pPr>
            <a:r>
              <a:rPr lang="en-US" sz="1350" dirty="0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Sblocco dei permessi Unity Catalog alla MI (OP-INF-1) e percorso di provisioning cloud (DEV → PROD).</a:t>
            </a:r>
          </a:p>
          <a:p>
            <a:pPr marL="0" indent="0">
              <a:spcAft>
                <a:spcPts val="700"/>
              </a:spcAft>
              <a:buNone/>
            </a:pPr>
            <a:r>
              <a:rPr lang="en-US" sz="1350" dirty="0" err="1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</a:t>
            </a:r>
            <a:r>
              <a:rPr lang="en-US" sz="1350" dirty="0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sul framework Data Quality (OP-21) e sulle anagrafiche Retail (OP-02).</a:t>
            </a:r>
          </a:p>
          <a:p>
            <a:pPr marL="0" indent="0">
              <a:spcAft>
                <a:spcPts val="700"/>
              </a:spcAft>
              <a:buNone/>
            </a:pPr>
            <a:r>
              <a:rPr lang="en-US" sz="1350" dirty="0" err="1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Conferme</a:t>
            </a:r>
            <a:r>
              <a:rPr lang="en-US" sz="1350" dirty="0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sui sistemi sorgente (OP-08/10/11/31) e sui listini corrieri.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i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i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i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</TotalTime>
  <Words>948</Words>
  <Application>Microsoft Office PowerPoint</Application>
  <PresentationFormat>Widescreen</PresentationFormat>
  <Paragraphs>181</Paragraphs>
  <Slides>8</Slides>
  <Notes>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Montserrat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Luigi Scrimitore</cp:lastModifiedBy>
  <cp:revision>11</cp:revision>
  <dcterms:created xsi:type="dcterms:W3CDTF">2026-08-28T07:35:21Z</dcterms:created>
  <dcterms:modified xsi:type="dcterms:W3CDTF">2026-08-28T09:33:16Z</dcterms:modified>
</cp:coreProperties>
</file>